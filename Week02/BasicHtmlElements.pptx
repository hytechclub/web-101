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20"/>
  </p:notesMasterIdLst>
  <p:sldIdLst>
    <p:sldId id="256" r:id="rId2"/>
    <p:sldId id="328" r:id="rId3"/>
    <p:sldId id="323" r:id="rId4"/>
    <p:sldId id="319" r:id="rId5"/>
    <p:sldId id="324" r:id="rId6"/>
    <p:sldId id="320" r:id="rId7"/>
    <p:sldId id="325" r:id="rId8"/>
    <p:sldId id="305" r:id="rId9"/>
    <p:sldId id="326" r:id="rId10"/>
    <p:sldId id="321" r:id="rId11"/>
    <p:sldId id="327" r:id="rId12"/>
    <p:sldId id="322" r:id="rId13"/>
    <p:sldId id="307" r:id="rId14"/>
    <p:sldId id="308" r:id="rId15"/>
    <p:sldId id="309" r:id="rId16"/>
    <p:sldId id="310" r:id="rId17"/>
    <p:sldId id="311" r:id="rId18"/>
    <p:sldId id="279" r:id="rId1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Krona One" panose="020B0604020202020204" charset="0"/>
      <p:regular r:id="rId25"/>
    </p:embeddedFont>
    <p:embeddedFont>
      <p:font typeface="Miriam Libre" panose="00000500000000000000" pitchFamily="2" charset="-79"/>
      <p:regular r:id="rId26"/>
      <p:bold r:id="rId27"/>
    </p:embeddedFont>
    <p:embeddedFont>
      <p:font typeface="Roboto Condensed Light" panose="02000000000000000000" pitchFamily="2" charset="0"/>
      <p:regular r:id="rId28"/>
      <p:italic r:id="rId29"/>
    </p:embeddedFont>
    <p:embeddedFont>
      <p:font typeface="Segoe UI" panose="020B0502040204020203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069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64A8121-69E1-4132-A0E2-CE15BAFBFB63}">
  <a:tblStyle styleId="{864A8121-69E1-4132-A0E2-CE15BAFBF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50">
              <a:solidFill>
                <a:srgbClr val="5F7D9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https://replit.com/@HylandOutreach</a:t>
            </a:r>
            <a:r>
              <a:rPr lang="en-US"/>
              <a:t>/BasicElementsExample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60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students</a:t>
            </a:r>
            <a:r>
              <a:rPr lang="en-US" baseline="0" dirty="0"/>
              <a:t> what </a:t>
            </a:r>
            <a:r>
              <a:rPr lang="en-US" b="1" baseline="0" dirty="0" err="1"/>
              <a:t>href</a:t>
            </a:r>
            <a:r>
              <a:rPr lang="en-US" baseline="0" dirty="0"/>
              <a:t> does – it tells the link where to go when clicked!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728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</a:t>
            </a:r>
            <a:r>
              <a:rPr lang="en-US" baseline="0" dirty="0"/>
              <a:t> each part of the attribute syntax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076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students these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885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 the </a:t>
            </a:r>
            <a:r>
              <a:rPr lang="en-US" dirty="0" err="1"/>
              <a:t>Repl</a:t>
            </a:r>
            <a:r>
              <a:rPr lang="en-US" dirty="0"/>
              <a:t> to show attributes in action. Uncomment the commented lines of code to display</a:t>
            </a:r>
            <a:r>
              <a:rPr lang="en-US" baseline="0" dirty="0"/>
              <a:t> them. You should be able to use </a:t>
            </a:r>
            <a:r>
              <a:rPr lang="en-US" b="1" baseline="0" dirty="0"/>
              <a:t>Ctrl</a:t>
            </a:r>
            <a:r>
              <a:rPr lang="en-US" baseline="0" dirty="0"/>
              <a:t>+</a:t>
            </a:r>
            <a:r>
              <a:rPr lang="en-US" b="1" baseline="0" dirty="0"/>
              <a:t>/</a:t>
            </a:r>
            <a:r>
              <a:rPr lang="en-US" baseline="0" dirty="0"/>
              <a:t> to comment and uncomment code in </a:t>
            </a:r>
            <a:r>
              <a:rPr lang="en-US" baseline="0" dirty="0" err="1"/>
              <a:t>Repl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9250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ge30e247bb5_0_429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1" name="Google Shape;1501;ge30e247bb5_0_429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61425" y="622625"/>
            <a:ext cx="81726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61425" y="3746300"/>
            <a:ext cx="4689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485700" y="540000"/>
            <a:ext cx="81726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85700" y="3663675"/>
            <a:ext cx="46899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485700" y="539375"/>
            <a:ext cx="81726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ITLE_1"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5"/>
          <p:cNvSpPr/>
          <p:nvPr/>
        </p:nvSpPr>
        <p:spPr>
          <a:xfrm>
            <a:off x="561425" y="622625"/>
            <a:ext cx="81726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25"/>
          <p:cNvSpPr/>
          <p:nvPr/>
        </p:nvSpPr>
        <p:spPr>
          <a:xfrm>
            <a:off x="4044125" y="3746300"/>
            <a:ext cx="4689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25"/>
          <p:cNvSpPr/>
          <p:nvPr/>
        </p:nvSpPr>
        <p:spPr>
          <a:xfrm>
            <a:off x="485700" y="540000"/>
            <a:ext cx="81726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25"/>
          <p:cNvSpPr/>
          <p:nvPr/>
        </p:nvSpPr>
        <p:spPr>
          <a:xfrm>
            <a:off x="3968400" y="3663675"/>
            <a:ext cx="46899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25"/>
          <p:cNvSpPr/>
          <p:nvPr/>
        </p:nvSpPr>
        <p:spPr>
          <a:xfrm>
            <a:off x="485700" y="539375"/>
            <a:ext cx="81726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25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25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25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25"/>
          <p:cNvSpPr txBox="1">
            <a:spLocks noGrp="1"/>
          </p:cNvSpPr>
          <p:nvPr>
            <p:ph type="ctrTitle"/>
          </p:nvPr>
        </p:nvSpPr>
        <p:spPr>
          <a:xfrm>
            <a:off x="720000" y="1049325"/>
            <a:ext cx="5650200" cy="77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5" name="Google Shape;395;p25"/>
          <p:cNvSpPr txBox="1">
            <a:spLocks noGrp="1"/>
          </p:cNvSpPr>
          <p:nvPr>
            <p:ph type="subTitle" idx="1"/>
          </p:nvPr>
        </p:nvSpPr>
        <p:spPr>
          <a:xfrm>
            <a:off x="720000" y="1824225"/>
            <a:ext cx="5650200" cy="3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highlight>
                  <a:schemeClr val="accent3"/>
                </a:highlight>
                <a:latin typeface="Krona One"/>
                <a:ea typeface="Krona One"/>
                <a:cs typeface="Krona One"/>
                <a:sym typeface="Kron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endParaRPr/>
          </a:p>
        </p:txBody>
      </p:sp>
      <p:sp>
        <p:nvSpPr>
          <p:cNvPr id="396" name="Google Shape;396;p25"/>
          <p:cNvSpPr txBox="1">
            <a:spLocks noGrp="1"/>
          </p:cNvSpPr>
          <p:nvPr>
            <p:ph type="subTitle" idx="2"/>
          </p:nvPr>
        </p:nvSpPr>
        <p:spPr>
          <a:xfrm>
            <a:off x="720000" y="2299125"/>
            <a:ext cx="27621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5"/>
          <p:cNvSpPr txBox="1"/>
          <p:nvPr/>
        </p:nvSpPr>
        <p:spPr>
          <a:xfrm>
            <a:off x="4202700" y="3883895"/>
            <a:ext cx="4295100" cy="4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CREDITS: 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>
              <a:solidFill>
                <a:schemeClr val="dk1"/>
              </a:solidFill>
              <a:latin typeface="Miriam Libre"/>
              <a:ea typeface="Miriam Libre"/>
              <a:cs typeface="Miriam Libre"/>
              <a:sym typeface="Miriam Libr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6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26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26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26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_1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/>
          <p:nvPr/>
        </p:nvSpPr>
        <p:spPr>
          <a:xfrm>
            <a:off x="561425" y="1356600"/>
            <a:ext cx="47154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485700" y="1273975"/>
            <a:ext cx="47154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27"/>
          <p:cNvSpPr/>
          <p:nvPr/>
        </p:nvSpPr>
        <p:spPr>
          <a:xfrm>
            <a:off x="485700" y="1273350"/>
            <a:ext cx="4715400" cy="2754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27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7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7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7"/>
          <p:cNvSpPr/>
          <p:nvPr/>
        </p:nvSpPr>
        <p:spPr>
          <a:xfrm>
            <a:off x="5493300" y="1356600"/>
            <a:ext cx="3240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7"/>
          <p:cNvSpPr/>
          <p:nvPr/>
        </p:nvSpPr>
        <p:spPr>
          <a:xfrm>
            <a:off x="5417575" y="1273975"/>
            <a:ext cx="3240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7"/>
          <p:cNvSpPr/>
          <p:nvPr/>
        </p:nvSpPr>
        <p:spPr>
          <a:xfrm>
            <a:off x="5417575" y="1273350"/>
            <a:ext cx="3240600" cy="275400"/>
          </a:xfrm>
          <a:prstGeom prst="rect">
            <a:avLst/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5651875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7"/>
          <p:cNvSpPr/>
          <p:nvPr/>
        </p:nvSpPr>
        <p:spPr>
          <a:xfrm>
            <a:off x="5837800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7"/>
          <p:cNvSpPr/>
          <p:nvPr/>
        </p:nvSpPr>
        <p:spPr>
          <a:xfrm>
            <a:off x="6023725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2_2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8"/>
          <p:cNvSpPr/>
          <p:nvPr/>
        </p:nvSpPr>
        <p:spPr>
          <a:xfrm>
            <a:off x="5614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8"/>
          <p:cNvSpPr/>
          <p:nvPr/>
        </p:nvSpPr>
        <p:spPr>
          <a:xfrm>
            <a:off x="4857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8"/>
          <p:cNvSpPr/>
          <p:nvPr/>
        </p:nvSpPr>
        <p:spPr>
          <a:xfrm>
            <a:off x="4857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8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8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28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28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8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28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8"/>
          <p:cNvSpPr/>
          <p:nvPr/>
        </p:nvSpPr>
        <p:spPr>
          <a:xfrm>
            <a:off x="48265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8"/>
          <p:cNvSpPr/>
          <p:nvPr/>
        </p:nvSpPr>
        <p:spPr>
          <a:xfrm>
            <a:off x="47508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28"/>
          <p:cNvSpPr/>
          <p:nvPr/>
        </p:nvSpPr>
        <p:spPr>
          <a:xfrm>
            <a:off x="47508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28"/>
          <p:cNvSpPr/>
          <p:nvPr/>
        </p:nvSpPr>
        <p:spPr>
          <a:xfrm>
            <a:off x="49851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51710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28"/>
          <p:cNvSpPr/>
          <p:nvPr/>
        </p:nvSpPr>
        <p:spPr>
          <a:xfrm>
            <a:off x="53569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51F5F-9E3D-461E-A9A2-DEAD886C2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137160"/>
            <a:ext cx="8572500" cy="685800"/>
          </a:xfrm>
          <a:gradFill>
            <a:gsLst>
              <a:gs pos="1000">
                <a:schemeClr val="accent2"/>
              </a:gs>
              <a:gs pos="99000">
                <a:schemeClr val="accent1"/>
              </a:gs>
            </a:gsLst>
            <a:lin ang="2700000" scaled="0"/>
          </a:gradFill>
        </p:spPr>
        <p:txBody>
          <a:bodyPr wrap="square" lIns="91440" tIns="45720" bIns="0">
            <a:noAutofit/>
          </a:bodyPr>
          <a:lstStyle>
            <a:lvl1pPr>
              <a:lnSpc>
                <a:spcPct val="85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ADA06-0604-402E-96FC-C5A696390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84CE-E12F-45BC-9163-59E6D2ABC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763E-B898-436D-883D-03711491D54A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279CC-07CA-4AC5-A1AC-1010514EF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0A737-103C-43F6-85F3-E27022DE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44F4-F215-4E77-8A37-E5924A989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900115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561425" y="622625"/>
            <a:ext cx="4010100" cy="4063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4775983" y="3746300"/>
            <a:ext cx="3957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485700" y="540000"/>
            <a:ext cx="4010100" cy="4063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4712075" y="3663675"/>
            <a:ext cx="39462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485700" y="539375"/>
            <a:ext cx="40101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5403825" y="3806375"/>
            <a:ext cx="2562600" cy="6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4787800" y="622625"/>
            <a:ext cx="39462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4712075" y="540000"/>
            <a:ext cx="39462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4712075" y="539375"/>
            <a:ext cx="39462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4946375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5132300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3"/>
          <p:cNvSpPr/>
          <p:nvPr/>
        </p:nvSpPr>
        <p:spPr>
          <a:xfrm>
            <a:off x="5318225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 txBox="1">
            <a:spLocks noGrp="1"/>
          </p:cNvSpPr>
          <p:nvPr>
            <p:ph type="ctrTitle"/>
          </p:nvPr>
        </p:nvSpPr>
        <p:spPr>
          <a:xfrm>
            <a:off x="4946375" y="1706075"/>
            <a:ext cx="3477600" cy="7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36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" name="Google Shape;36;p3"/>
          <p:cNvSpPr txBox="1">
            <a:spLocks noGrp="1"/>
          </p:cNvSpPr>
          <p:nvPr>
            <p:ph type="title" idx="2" hasCustomPrompt="1"/>
          </p:nvPr>
        </p:nvSpPr>
        <p:spPr>
          <a:xfrm>
            <a:off x="1001400" y="1749150"/>
            <a:ext cx="2787900" cy="16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238439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body" idx="1"/>
          </p:nvPr>
        </p:nvSpPr>
        <p:spPr>
          <a:xfrm>
            <a:off x="720000" y="1351850"/>
            <a:ext cx="7704000" cy="32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6993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71" r:id="rId3"/>
    <p:sldLayoutId id="2147483672" r:id="rId4"/>
    <p:sldLayoutId id="2147483673" r:id="rId5"/>
    <p:sldLayoutId id="2147483674" r:id="rId6"/>
    <p:sldLayoutId id="2147483679" r:id="rId7"/>
    <p:sldLayoutId id="2147483680" r:id="rId8"/>
    <p:sldLayoutId id="214748368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mxtdvL1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Lhodz460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"/>
          <p:cNvSpPr/>
          <p:nvPr/>
        </p:nvSpPr>
        <p:spPr>
          <a:xfrm>
            <a:off x="551717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31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HTML</a:t>
            </a:r>
            <a:br>
              <a:rPr lang="en" sz="5400" dirty="0"/>
            </a:br>
            <a:r>
              <a:rPr lang="en" sz="6600" dirty="0">
                <a:highlight>
                  <a:schemeClr val="accent3"/>
                </a:highlight>
              </a:rPr>
              <a:t>Elements</a:t>
            </a:r>
            <a:endParaRPr sz="2000" dirty="0">
              <a:highlight>
                <a:schemeClr val="accent3"/>
              </a:highlight>
            </a:endParaRPr>
          </a:p>
        </p:txBody>
      </p:sp>
      <p:sp>
        <p:nvSpPr>
          <p:cNvPr id="445" name="Google Shape;445;p31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Hy-Tech Club: Web 101</a:t>
            </a:r>
            <a:endParaRPr dirty="0"/>
          </a:p>
        </p:txBody>
      </p:sp>
      <p:sp>
        <p:nvSpPr>
          <p:cNvPr id="446" name="Google Shape;446;p31"/>
          <p:cNvSpPr/>
          <p:nvPr/>
        </p:nvSpPr>
        <p:spPr>
          <a:xfrm>
            <a:off x="543727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665580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31"/>
          <p:cNvSpPr/>
          <p:nvPr/>
        </p:nvSpPr>
        <p:spPr>
          <a:xfrm>
            <a:off x="657590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1"/>
          <p:cNvSpPr/>
          <p:nvPr/>
        </p:nvSpPr>
        <p:spPr>
          <a:xfrm>
            <a:off x="779442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31"/>
          <p:cNvSpPr/>
          <p:nvPr/>
        </p:nvSpPr>
        <p:spPr>
          <a:xfrm>
            <a:off x="771452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eriodic-table-of-elements · GitHub Topics · GitHub">
            <a:extLst>
              <a:ext uri="{FF2B5EF4-FFF2-40B4-BE49-F238E27FC236}">
                <a16:creationId xmlns:a16="http://schemas.microsoft.com/office/drawing/2014/main" id="{C2517508-AB52-A9AA-151D-69727559A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34" b="1"/>
          <a:stretch>
            <a:fillRect/>
          </a:stretch>
        </p:blipFill>
        <p:spPr bwMode="auto">
          <a:xfrm>
            <a:off x="177228" y="219749"/>
            <a:ext cx="4571981" cy="257174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8629F4-154C-9058-BDD3-C5515E673E65}"/>
              </a:ext>
            </a:extLst>
          </p:cNvPr>
          <p:cNvSpPr txBox="1"/>
          <p:nvPr/>
        </p:nvSpPr>
        <p:spPr>
          <a:xfrm>
            <a:off x="177227" y="2571780"/>
            <a:ext cx="4571981" cy="257172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The chemical elements make up our entire universe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D0C0D7-0F36-05CF-34B8-B8EC4ABD33A1}"/>
              </a:ext>
            </a:extLst>
          </p:cNvPr>
          <p:cNvSpPr/>
          <p:nvPr/>
        </p:nvSpPr>
        <p:spPr>
          <a:xfrm>
            <a:off x="5394271" y="219749"/>
            <a:ext cx="3572501" cy="2571740"/>
          </a:xfrm>
          <a:prstGeom prst="rect">
            <a:avLst/>
          </a:prstGeom>
          <a:solidFill>
            <a:srgbClr val="24069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&lt;p&gt;Fire&lt;/p&gt;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&lt;p&gt;Water&lt;/p&gt;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&lt;p&gt;Earth&lt;/p&gt;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&lt;p&gt;Air&lt;/p&gt;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A86A1-58EA-8690-29F9-F5695DE31BAD}"/>
              </a:ext>
            </a:extLst>
          </p:cNvPr>
          <p:cNvSpPr txBox="1"/>
          <p:nvPr/>
        </p:nvSpPr>
        <p:spPr>
          <a:xfrm>
            <a:off x="5394271" y="3005460"/>
            <a:ext cx="3572500" cy="1918291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US" sz="3600" dirty="0">
                <a:solidFill>
                  <a:srgbClr val="24069D"/>
                </a:solidFill>
              </a:rPr>
              <a:t>HTML elements make up a website</a:t>
            </a:r>
          </a:p>
        </p:txBody>
      </p:sp>
    </p:spTree>
    <p:extLst>
      <p:ext uri="{BB962C8B-B14F-4D97-AF65-F5344CB8AC3E}">
        <p14:creationId xmlns:p14="http://schemas.microsoft.com/office/powerpoint/2010/main" val="933292270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24852B-234A-0E2C-D790-30CFBBEE89A1}"/>
              </a:ext>
            </a:extLst>
          </p:cNvPr>
          <p:cNvSpPr txBox="1"/>
          <p:nvPr/>
        </p:nvSpPr>
        <p:spPr>
          <a:xfrm>
            <a:off x="504265" y="457201"/>
            <a:ext cx="76754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Krona One" panose="020B0604020202020204" charset="0"/>
              </a:rPr>
              <a:t>The Fundamental Elements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C45632-B413-935D-DC82-85FFFAA660E7}"/>
              </a:ext>
            </a:extLst>
          </p:cNvPr>
          <p:cNvSpPr txBox="1"/>
          <p:nvPr/>
        </p:nvSpPr>
        <p:spPr>
          <a:xfrm>
            <a:off x="625289" y="1405218"/>
            <a:ext cx="340210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</a:rPr>
              <a:t>&lt;html&gt;</a:t>
            </a:r>
          </a:p>
          <a:p>
            <a:r>
              <a:rPr lang="en-US" sz="3600" dirty="0">
                <a:latin typeface="Consolas" panose="020B0609020204030204" pitchFamily="49" charset="0"/>
              </a:rPr>
              <a:t>  &lt;body&gt;</a:t>
            </a:r>
          </a:p>
          <a:p>
            <a:r>
              <a:rPr lang="en-US" sz="3600" dirty="0">
                <a:latin typeface="Consolas" panose="020B0609020204030204" pitchFamily="49" charset="0"/>
              </a:rPr>
              <a:t>  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&lt;..stuff..&gt; </a:t>
            </a:r>
            <a:endParaRPr lang="en-US" sz="3600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3600" dirty="0">
                <a:latin typeface="Consolas" panose="020B0609020204030204" pitchFamily="49" charset="0"/>
              </a:rPr>
              <a:t>  &lt;/body&gt;</a:t>
            </a:r>
          </a:p>
          <a:p>
            <a:r>
              <a:rPr lang="en-US" sz="3600">
                <a:latin typeface="Consolas" panose="020B0609020204030204" pitchFamily="49" charset="0"/>
              </a:rPr>
              <a:t>&lt;/html</a:t>
            </a:r>
            <a:r>
              <a:rPr lang="en-US" sz="3600" dirty="0">
                <a:latin typeface="Consolas" panose="020B0609020204030204" pitchFamily="49" charset="0"/>
              </a:rPr>
              <a:t>&gt;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4FECE5D-C54A-0FDB-55E3-5D52355EB517}"/>
              </a:ext>
            </a:extLst>
          </p:cNvPr>
          <p:cNvCxnSpPr/>
          <p:nvPr/>
        </p:nvCxnSpPr>
        <p:spPr>
          <a:xfrm>
            <a:off x="2312894" y="1741394"/>
            <a:ext cx="171450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92A3F4-2122-4283-B297-751E925337CB}"/>
              </a:ext>
            </a:extLst>
          </p:cNvPr>
          <p:cNvCxnSpPr/>
          <p:nvPr/>
        </p:nvCxnSpPr>
        <p:spPr>
          <a:xfrm>
            <a:off x="2823882" y="2306171"/>
            <a:ext cx="207084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293593-F517-EED7-DF13-2BBF8A5D37B6}"/>
              </a:ext>
            </a:extLst>
          </p:cNvPr>
          <p:cNvCxnSpPr/>
          <p:nvPr/>
        </p:nvCxnSpPr>
        <p:spPr>
          <a:xfrm>
            <a:off x="3751729" y="2877671"/>
            <a:ext cx="182207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82A284-F739-7AD3-9745-02B4B7099EC4}"/>
              </a:ext>
            </a:extLst>
          </p:cNvPr>
          <p:cNvSpPr txBox="1"/>
          <p:nvPr/>
        </p:nvSpPr>
        <p:spPr>
          <a:xfrm>
            <a:off x="4027395" y="1550006"/>
            <a:ext cx="44913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riam Libre" panose="00000500000000000000" pitchFamily="2" charset="-79"/>
                <a:cs typeface="Miriam Libre" panose="00000500000000000000" pitchFamily="2" charset="-79"/>
              </a:rPr>
              <a:t>“Root” element - contains entire document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EC6EFF-7935-96B9-5B53-3E9365A52294}"/>
              </a:ext>
            </a:extLst>
          </p:cNvPr>
          <p:cNvSpPr txBox="1"/>
          <p:nvPr/>
        </p:nvSpPr>
        <p:spPr>
          <a:xfrm>
            <a:off x="4982135" y="2121505"/>
            <a:ext cx="26490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riam Libre" panose="00000500000000000000" pitchFamily="2" charset="-79"/>
                <a:cs typeface="Miriam Libre" panose="00000500000000000000" pitchFamily="2" charset="-79"/>
              </a:rPr>
              <a:t>HTML content element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A66B9-8B31-F92F-17CF-CACD5739B42F}"/>
              </a:ext>
            </a:extLst>
          </p:cNvPr>
          <p:cNvSpPr txBox="1"/>
          <p:nvPr/>
        </p:nvSpPr>
        <p:spPr>
          <a:xfrm>
            <a:off x="5658971" y="2686280"/>
            <a:ext cx="27319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Miriam Libre" panose="00000500000000000000" pitchFamily="2" charset="-79"/>
                <a:cs typeface="Miriam Libre" panose="00000500000000000000" pitchFamily="2" charset="-79"/>
              </a:rPr>
              <a:t>Everything that is visible!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C1921F-6671-3934-3AE0-042EF1986F89}"/>
              </a:ext>
            </a:extLst>
          </p:cNvPr>
          <p:cNvSpPr/>
          <p:nvPr/>
        </p:nvSpPr>
        <p:spPr>
          <a:xfrm>
            <a:off x="4027395" y="3381937"/>
            <a:ext cx="4202205" cy="88560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Miriam Libre" panose="00000500000000000000" pitchFamily="2" charset="-79"/>
                <a:cs typeface="Miriam Libre" panose="00000500000000000000" pitchFamily="2" charset="-79"/>
              </a:rPr>
              <a:t>The code will work without these… but you should add them anyway!</a:t>
            </a:r>
          </a:p>
        </p:txBody>
      </p:sp>
    </p:spTree>
    <p:extLst>
      <p:ext uri="{BB962C8B-B14F-4D97-AF65-F5344CB8AC3E}">
        <p14:creationId xmlns:p14="http://schemas.microsoft.com/office/powerpoint/2010/main" val="401235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7E17FD-13CD-DF44-26D9-56818BDD0162}"/>
              </a:ext>
            </a:extLst>
          </p:cNvPr>
          <p:cNvSpPr/>
          <p:nvPr/>
        </p:nvSpPr>
        <p:spPr>
          <a:xfrm>
            <a:off x="285750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Header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1070784"/>
            <a:ext cx="8572500" cy="1222144"/>
          </a:xfrm>
        </p:spPr>
        <p:txBody>
          <a:bodyPr>
            <a:normAutofit/>
          </a:bodyPr>
          <a:lstStyle/>
          <a:p>
            <a:pPr>
              <a:buClr>
                <a:schemeClr val="bg1"/>
              </a:buClr>
            </a:pPr>
            <a:r>
              <a:rPr lang="en-US" sz="2400" dirty="0">
                <a:solidFill>
                  <a:schemeClr val="bg1"/>
                </a:solidFill>
              </a:rPr>
              <a:t>Used for page headings or titles</a:t>
            </a:r>
          </a:p>
          <a:p>
            <a:pPr>
              <a:buClr>
                <a:schemeClr val="bg1"/>
              </a:buClr>
            </a:pPr>
            <a:r>
              <a:rPr lang="en-US" sz="2400" dirty="0">
                <a:solidFill>
                  <a:schemeClr val="bg1"/>
                </a:solidFill>
              </a:rPr>
              <a:t>There are six header elements – 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h1</a:t>
            </a:r>
            <a:r>
              <a:rPr lang="en-US" sz="2400" dirty="0">
                <a:solidFill>
                  <a:schemeClr val="bg1"/>
                </a:solidFill>
              </a:rPr>
              <a:t> through 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h6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1" y="2571750"/>
            <a:ext cx="7621958" cy="1578894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h1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</a:rPr>
              <a:t>This is the biggest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&lt;/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h1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h6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</a:rPr>
              <a:t>This is the smallest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&lt;/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h6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endParaRPr lang="en-US" sz="3600" b="1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  <a:spcAft>
                <a:spcPts val="450"/>
              </a:spcAft>
            </a:pPr>
            <a:endParaRPr lang="en-US" sz="1800" dirty="0" err="1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15890759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7E17FD-13CD-DF44-26D9-56818BDD0162}"/>
              </a:ext>
            </a:extLst>
          </p:cNvPr>
          <p:cNvSpPr/>
          <p:nvPr/>
        </p:nvSpPr>
        <p:spPr>
          <a:xfrm>
            <a:off x="285750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Header Elements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504C91-F92E-0E55-B0E8-347207752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40" y="1436603"/>
            <a:ext cx="8138319" cy="227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81477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E3FFA3-15BD-3901-E2F8-25B2099C9B53}"/>
              </a:ext>
            </a:extLst>
          </p:cNvPr>
          <p:cNvSpPr/>
          <p:nvPr/>
        </p:nvSpPr>
        <p:spPr>
          <a:xfrm>
            <a:off x="285750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Paragraph Element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9" y="1136072"/>
            <a:ext cx="7704000" cy="1269757"/>
          </a:xfrm>
        </p:spPr>
        <p:txBody>
          <a:bodyPr/>
          <a:lstStyle/>
          <a:p>
            <a:pPr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Displays common text on the page</a:t>
            </a:r>
          </a:p>
          <a:p>
            <a:pPr lvl="1"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The content does not have to be multiple sentences</a:t>
            </a:r>
          </a:p>
          <a:p>
            <a:pPr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Each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&lt;p&gt;&lt;/p&gt;</a:t>
            </a:r>
            <a:r>
              <a:rPr lang="en-US" sz="2000" dirty="0">
                <a:solidFill>
                  <a:schemeClr val="bg1"/>
                </a:solidFill>
              </a:rPr>
              <a:t> creates a new line under it</a:t>
            </a:r>
            <a:endParaRPr lang="en-US" sz="2000" b="1" dirty="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4383" y="2975264"/>
            <a:ext cx="7875233" cy="775597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p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</a:rPr>
              <a:t>This will appear normal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&lt;/</a:t>
            </a:r>
            <a:r>
              <a:rPr lang="en-US" sz="3600" b="1" dirty="0">
                <a:solidFill>
                  <a:srgbClr val="569CD6"/>
                </a:solidFill>
                <a:latin typeface="Consolas" panose="020B0609020204030204" pitchFamily="49" charset="0"/>
              </a:rPr>
              <a:t>p</a:t>
            </a:r>
            <a:r>
              <a:rPr lang="en-US" sz="36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endParaRPr lang="en-US" sz="2000" b="1" dirty="0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35199107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E3FFA3-15BD-3901-E2F8-25B2099C9B53}"/>
              </a:ext>
            </a:extLst>
          </p:cNvPr>
          <p:cNvSpPr/>
          <p:nvPr/>
        </p:nvSpPr>
        <p:spPr>
          <a:xfrm>
            <a:off x="285749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Paragraph Element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530F80-71B3-5938-01B5-81717C8F0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10" y="1699649"/>
            <a:ext cx="8356978" cy="148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85833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E8C6AD-BD43-04CA-D8C8-389B386D3285}"/>
              </a:ext>
            </a:extLst>
          </p:cNvPr>
          <p:cNvSpPr/>
          <p:nvPr/>
        </p:nvSpPr>
        <p:spPr>
          <a:xfrm>
            <a:off x="285750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Hyperlink Element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1" y="1152475"/>
            <a:ext cx="8572500" cy="1549161"/>
          </a:xfrm>
        </p:spPr>
        <p:txBody>
          <a:bodyPr/>
          <a:lstStyle/>
          <a:p>
            <a:pPr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Used to create a link to another page</a:t>
            </a:r>
          </a:p>
          <a:p>
            <a:pPr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Set the </a:t>
            </a:r>
            <a:r>
              <a:rPr lang="en-US" sz="20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href</a:t>
            </a:r>
            <a:r>
              <a:rPr lang="en-US" sz="2000" dirty="0">
                <a:solidFill>
                  <a:schemeClr val="bg1"/>
                </a:solidFill>
              </a:rPr>
              <a:t> to a URL</a:t>
            </a:r>
          </a:p>
          <a:p>
            <a:pPr>
              <a:buClr>
                <a:schemeClr val="bg1"/>
              </a:buClr>
            </a:pPr>
            <a:r>
              <a:rPr lang="en-US" sz="2000" dirty="0">
                <a:solidFill>
                  <a:schemeClr val="bg1"/>
                </a:solidFill>
              </a:rPr>
              <a:t>The text of the link goes in between the opening and closing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298" y="3257550"/>
            <a:ext cx="8529258" cy="683264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r>
              <a:rPr lang="en-US" sz="3000" b="1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3000" b="1" dirty="0">
                <a:solidFill>
                  <a:srgbClr val="569CD6"/>
                </a:solidFill>
                <a:latin typeface="Consolas" panose="020B0609020204030204" pitchFamily="49" charset="0"/>
              </a:rPr>
              <a:t>a</a:t>
            </a:r>
            <a:r>
              <a:rPr lang="en-US" sz="3000" b="1" dirty="0">
                <a:solidFill>
                  <a:srgbClr val="D4D4D4"/>
                </a:solidFill>
                <a:latin typeface="Consolas" panose="020B0609020204030204" pitchFamily="49" charset="0"/>
              </a:rPr>
              <a:t> </a:t>
            </a:r>
            <a:r>
              <a:rPr lang="en-US" sz="3000" b="1" dirty="0" err="1">
                <a:solidFill>
                  <a:srgbClr val="9CDCFE"/>
                </a:solidFill>
                <a:latin typeface="Consolas" panose="020B0609020204030204" pitchFamily="49" charset="0"/>
              </a:rPr>
              <a:t>href</a:t>
            </a:r>
            <a:r>
              <a:rPr lang="en-US" sz="30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3000" b="1" dirty="0">
                <a:solidFill>
                  <a:srgbClr val="CE9178"/>
                </a:solidFill>
                <a:latin typeface="Consolas" panose="020B0609020204030204" pitchFamily="49" charset="0"/>
              </a:rPr>
              <a:t>"https://google.com"</a:t>
            </a:r>
            <a:r>
              <a:rPr lang="en-US" sz="30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</a:rPr>
              <a:t>Google</a:t>
            </a:r>
            <a:r>
              <a:rPr lang="en-US" sz="3000" b="1" dirty="0">
                <a:solidFill>
                  <a:srgbClr val="808080"/>
                </a:solidFill>
                <a:latin typeface="Consolas" panose="020B0609020204030204" pitchFamily="49" charset="0"/>
              </a:rPr>
              <a:t>&lt;/</a:t>
            </a:r>
            <a:r>
              <a:rPr lang="en-US" sz="3000" b="1" dirty="0">
                <a:solidFill>
                  <a:srgbClr val="569CD6"/>
                </a:solidFill>
                <a:latin typeface="Consolas" panose="020B0609020204030204" pitchFamily="49" charset="0"/>
              </a:rPr>
              <a:t>a</a:t>
            </a:r>
            <a:r>
              <a:rPr lang="en-US" sz="3000" b="1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endParaRPr lang="en-US" sz="3000" b="1" dirty="0">
              <a:solidFill>
                <a:srgbClr val="D4D4D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667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E8C6AD-BD43-04CA-D8C8-389B386D3285}"/>
              </a:ext>
            </a:extLst>
          </p:cNvPr>
          <p:cNvSpPr/>
          <p:nvPr/>
        </p:nvSpPr>
        <p:spPr>
          <a:xfrm>
            <a:off x="292202" y="1014162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Hyperlink Element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F4C29BE-4D75-9678-9CDA-8B6D235997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8365D0-7274-9339-3C8E-0C360410D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78" y="2023033"/>
            <a:ext cx="8062022" cy="1411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4186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2DE89CA-A60D-1CBA-419F-E45ECDC38EAE}"/>
              </a:ext>
            </a:extLst>
          </p:cNvPr>
          <p:cNvSpPr/>
          <p:nvPr/>
        </p:nvSpPr>
        <p:spPr>
          <a:xfrm>
            <a:off x="303784" y="822960"/>
            <a:ext cx="8572500" cy="3839095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Image Element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857250"/>
            <a:ext cx="8572500" cy="1800225"/>
          </a:xfrm>
        </p:spPr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en-US" sz="2400" dirty="0">
                <a:solidFill>
                  <a:schemeClr val="bg1"/>
                </a:solidFill>
              </a:rPr>
              <a:t>Used to display an image</a:t>
            </a:r>
          </a:p>
          <a:p>
            <a:pPr>
              <a:buClr>
                <a:schemeClr val="bg1"/>
              </a:buClr>
            </a:pPr>
            <a:r>
              <a:rPr lang="en-US" sz="2400" dirty="0">
                <a:solidFill>
                  <a:schemeClr val="bg1"/>
                </a:solidFill>
              </a:rPr>
              <a:t>Set the </a:t>
            </a:r>
            <a:r>
              <a:rPr lang="en-US" sz="24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src</a:t>
            </a:r>
            <a:r>
              <a:rPr lang="en-US" sz="2400" dirty="0">
                <a:solidFill>
                  <a:schemeClr val="bg1"/>
                </a:solidFill>
              </a:rPr>
              <a:t> to a URL</a:t>
            </a:r>
          </a:p>
          <a:p>
            <a:pPr>
              <a:buClr>
                <a:schemeClr val="bg1"/>
              </a:buClr>
            </a:pPr>
            <a:r>
              <a:rPr lang="en-US" sz="2400" dirty="0">
                <a:solidFill>
                  <a:schemeClr val="bg1"/>
                </a:solidFill>
              </a:rPr>
              <a:t>This element has no closing tag – it is </a:t>
            </a:r>
            <a:r>
              <a:rPr lang="en-US" sz="2400" b="1" i="1" dirty="0">
                <a:solidFill>
                  <a:schemeClr val="bg1"/>
                </a:solidFill>
              </a:rPr>
              <a:t>self-closing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494" y="3257550"/>
            <a:ext cx="8861080" cy="637097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r>
              <a:rPr lang="en-US" sz="2700" b="1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2700" b="1" dirty="0" err="1">
                <a:solidFill>
                  <a:srgbClr val="569CD6"/>
                </a:solidFill>
                <a:latin typeface="Consolas" panose="020B0609020204030204" pitchFamily="49" charset="0"/>
              </a:rPr>
              <a:t>img</a:t>
            </a:r>
            <a:r>
              <a:rPr lang="en-US" sz="2700" b="1" dirty="0">
                <a:solidFill>
                  <a:srgbClr val="D4D4D4"/>
                </a:solidFill>
                <a:latin typeface="Consolas" panose="020B0609020204030204" pitchFamily="49" charset="0"/>
              </a:rPr>
              <a:t> </a:t>
            </a:r>
            <a:r>
              <a:rPr lang="en-US" sz="2700" b="1" dirty="0" err="1">
                <a:solidFill>
                  <a:srgbClr val="9CDCFE"/>
                </a:solidFill>
                <a:latin typeface="Consolas" panose="020B0609020204030204" pitchFamily="49" charset="0"/>
              </a:rPr>
              <a:t>src</a:t>
            </a:r>
            <a:r>
              <a:rPr lang="en-US" sz="27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700" b="1" dirty="0">
                <a:solidFill>
                  <a:srgbClr val="CE9178"/>
                </a:solidFill>
                <a:latin typeface="Consolas" panose="020B0609020204030204" pitchFamily="49" charset="0"/>
              </a:rPr>
              <a:t>"https://i.imgur.com/GfT5Z9R.png"</a:t>
            </a:r>
            <a:r>
              <a:rPr lang="en-US" sz="2700" b="1" dirty="0">
                <a:solidFill>
                  <a:srgbClr val="D4D4D4"/>
                </a:solidFill>
                <a:latin typeface="Consolas" panose="020B0609020204030204" pitchFamily="49" charset="0"/>
              </a:rPr>
              <a:t> </a:t>
            </a:r>
            <a:r>
              <a:rPr lang="en-US" sz="2700" b="1" dirty="0">
                <a:solidFill>
                  <a:srgbClr val="808080"/>
                </a:solidFill>
                <a:latin typeface="Consolas" panose="020B0609020204030204" pitchFamily="49" charset="0"/>
              </a:rPr>
              <a:t>/&gt;</a:t>
            </a:r>
            <a:endParaRPr lang="en-US" sz="2700" b="1" dirty="0">
              <a:solidFill>
                <a:srgbClr val="D4D4D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41512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45A1-788D-79E8-5CFC-B30C74075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 Image Element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0EFF6-C771-F22E-7094-EE536E73E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79CF40-F384-27DD-1F49-CE5A4300E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04" y="1018958"/>
            <a:ext cx="8354591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39914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2475"/>
            <a:ext cx="9144000" cy="3416400"/>
          </a:xfrm>
        </p:spPr>
        <p:txBody>
          <a:bodyPr anchor="ctr">
            <a:noAutofit/>
          </a:bodyPr>
          <a:lstStyle/>
          <a:p>
            <a:pPr marL="42863" indent="0" algn="ctr">
              <a:buNone/>
            </a:pP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  <a:hlinkClick r:id="rId3"/>
              </a:rPr>
              <a:t>https://jsfiddle.net/mxtdvL10/</a:t>
            </a:r>
            <a:r>
              <a:rPr lang="en-US" sz="2000" b="1" dirty="0">
                <a:solidFill>
                  <a:schemeClr val="tx1"/>
                </a:solidFill>
                <a:highlight>
                  <a:srgbClr val="C0C0C0"/>
                </a:highligh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81068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6">
            <a:extLst>
              <a:ext uri="{FF2B5EF4-FFF2-40B4-BE49-F238E27FC236}">
                <a16:creationId xmlns:a16="http://schemas.microsoft.com/office/drawing/2014/main" id="{7C52EB69-F063-EF3D-540C-8306D4D060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3685308"/>
            <a:ext cx="3920837" cy="928255"/>
          </a:xfrm>
        </p:spPr>
        <p:txBody>
          <a:bodyPr anchor="ctr"/>
          <a:lstStyle/>
          <a:p>
            <a:pPr algn="l"/>
            <a:r>
              <a:rPr lang="en-US" b="0" i="1" dirty="0">
                <a:solidFill>
                  <a:schemeClr val="tx1"/>
                </a:solidFill>
                <a:effectLst/>
                <a:latin typeface="Miriam Libre" panose="00000500000000000000" pitchFamily="2" charset="-79"/>
                <a:cs typeface="Miriam Libre" panose="00000500000000000000" pitchFamily="2" charset="-79"/>
              </a:rPr>
              <a:t>Qualities or features regarded as a characteristic or inherent part of someone or something.</a:t>
            </a:r>
            <a:endParaRPr lang="en-US" i="1" dirty="0">
              <a:solidFill>
                <a:schemeClr val="tx1"/>
              </a:solidFill>
              <a:latin typeface="Miriam Libre" panose="00000500000000000000" pitchFamily="2" charset="-79"/>
              <a:cs typeface="Miriam Libre" panose="00000500000000000000" pitchFamily="2" charset="-79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idx="2"/>
          </p:nvPr>
        </p:nvSpPr>
        <p:spPr>
          <a:xfrm>
            <a:off x="4786745" y="1658457"/>
            <a:ext cx="3803073" cy="1645200"/>
          </a:xfrm>
        </p:spPr>
        <p:txBody>
          <a:bodyPr/>
          <a:lstStyle/>
          <a:p>
            <a:r>
              <a:rPr lang="en-US" sz="4000" dirty="0"/>
              <a:t>Attributes</a:t>
            </a:r>
          </a:p>
        </p:txBody>
      </p:sp>
      <p:pic>
        <p:nvPicPr>
          <p:cNvPr id="1030" name="Picture 6" descr="Image result for rpg attribute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570"/>
          <a:stretch/>
        </p:blipFill>
        <p:spPr bwMode="auto">
          <a:xfrm>
            <a:off x="122928" y="470405"/>
            <a:ext cx="4449072" cy="430941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235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4E0396-480B-2654-6D06-5725DE75E089}"/>
              </a:ext>
            </a:extLst>
          </p:cNvPr>
          <p:cNvSpPr/>
          <p:nvPr/>
        </p:nvSpPr>
        <p:spPr bwMode="auto">
          <a:xfrm>
            <a:off x="473222" y="1303505"/>
            <a:ext cx="8137378" cy="3394969"/>
          </a:xfrm>
          <a:prstGeom prst="rect">
            <a:avLst/>
          </a:prstGeom>
          <a:solidFill>
            <a:srgbClr val="000000"/>
          </a:solidFill>
          <a:ln w="41275">
            <a:solidFill>
              <a:schemeClr val="tx1"/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Attribute Example: </a:t>
            </a:r>
            <a:r>
              <a:rPr lang="en-US" sz="3600" dirty="0">
                <a:solidFill>
                  <a:schemeClr val="bg2"/>
                </a:solidFill>
                <a:latin typeface="Consolas" panose="020B0609020204030204" pitchFamily="49" charset="0"/>
              </a:rPr>
              <a:t>&lt;a&gt;</a:t>
            </a:r>
            <a:endParaRPr lang="en-US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0" y="1700707"/>
            <a:ext cx="9144000" cy="620170"/>
          </a:xfrm>
        </p:spPr>
        <p:txBody>
          <a:bodyPr>
            <a:normAutofit/>
          </a:bodyPr>
          <a:lstStyle/>
          <a:p>
            <a:pPr marL="42863" indent="0" algn="ctr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569CD6"/>
                </a:solidFill>
                <a:latin typeface="Consolas" panose="020B0609020204030204" pitchFamily="49" charset="0"/>
              </a:rPr>
              <a:t>a</a:t>
            </a:r>
            <a:r>
              <a:rPr lang="en-US" sz="2400" dirty="0">
                <a:solidFill>
                  <a:srgbClr val="D4D4D4"/>
                </a:solidFill>
                <a:latin typeface="Consolas" panose="020B0609020204030204" pitchFamily="49" charset="0"/>
              </a:rPr>
              <a:t> </a:t>
            </a:r>
            <a:r>
              <a:rPr lang="en-US" sz="2400" dirty="0" err="1">
                <a:solidFill>
                  <a:srgbClr val="9CDCFE"/>
                </a:solidFill>
                <a:latin typeface="Consolas" panose="020B0609020204030204" pitchFamily="49" charset="0"/>
              </a:rPr>
              <a:t>href</a:t>
            </a:r>
            <a:r>
              <a:rPr lang="en-US" sz="2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CE9178"/>
                </a:solidFill>
                <a:latin typeface="Consolas" panose="020B0609020204030204" pitchFamily="49" charset="0"/>
              </a:rPr>
              <a:t>"http://wikipedia.org/"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solidFill>
                  <a:srgbClr val="D4D4D4"/>
                </a:solidFill>
                <a:latin typeface="Consolas" panose="020B0609020204030204" pitchFamily="49" charset="0"/>
              </a:rPr>
              <a:t>Wikipedia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>
                <a:solidFill>
                  <a:srgbClr val="569CD6"/>
                </a:solidFill>
                <a:latin typeface="Consolas" panose="020B0609020204030204" pitchFamily="49" charset="0"/>
              </a:rPr>
              <a:t>a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1203268" y="1725413"/>
            <a:ext cx="4837314" cy="514350"/>
          </a:xfrm>
          <a:prstGeom prst="rect">
            <a:avLst/>
          </a:prstGeom>
          <a:solidFill>
            <a:srgbClr val="FFFF00">
              <a:alpha val="29020"/>
            </a:srgbClr>
          </a:solidFill>
          <a:ln w="41275">
            <a:solidFill>
              <a:schemeClr val="accent2"/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2718079"/>
            <a:ext cx="4511998" cy="620170"/>
          </a:xfrm>
          <a:prstGeom prst="rect">
            <a:avLst/>
          </a:prstGeom>
          <a:noFill/>
        </p:spPr>
        <p:txBody>
          <a:bodyPr wrap="squar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2400" b="1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Q:</a:t>
            </a:r>
            <a:r>
              <a:rPr lang="en-US" sz="2400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 What does the </a:t>
            </a:r>
            <a:r>
              <a:rPr lang="en-US" sz="2800" dirty="0" err="1">
                <a:solidFill>
                  <a:srgbClr val="9CDCFE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href</a:t>
            </a:r>
            <a:r>
              <a:rPr lang="en-US" sz="2400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7036" y="3338249"/>
            <a:ext cx="7785800" cy="951030"/>
          </a:xfrm>
          <a:prstGeom prst="rect">
            <a:avLst/>
          </a:prstGeom>
          <a:noFill/>
        </p:spPr>
        <p:txBody>
          <a:bodyPr wrap="squar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2400" b="1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A: </a:t>
            </a:r>
            <a:r>
              <a:rPr lang="en-US" sz="2400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The </a:t>
            </a:r>
            <a:r>
              <a:rPr lang="en-US" sz="2800" dirty="0" err="1">
                <a:solidFill>
                  <a:srgbClr val="9CDCFE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href</a:t>
            </a:r>
            <a:r>
              <a:rPr lang="en-US" sz="2400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 </a:t>
            </a:r>
            <a:r>
              <a:rPr lang="en-US" sz="2400" i="1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attribute</a:t>
            </a:r>
            <a:r>
              <a:rPr lang="en-US" sz="2400" dirty="0">
                <a:solidFill>
                  <a:schemeClr val="accent6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 specifies the destination URL for the link</a:t>
            </a:r>
          </a:p>
        </p:txBody>
      </p:sp>
    </p:spTree>
    <p:extLst>
      <p:ext uri="{BB962C8B-B14F-4D97-AF65-F5344CB8AC3E}">
        <p14:creationId xmlns:p14="http://schemas.microsoft.com/office/powerpoint/2010/main" val="2889202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Attributes?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95745" y="1351850"/>
            <a:ext cx="7987145" cy="3251700"/>
          </a:xfrm>
        </p:spPr>
        <p:txBody>
          <a:bodyPr>
            <a:normAutofit/>
          </a:bodyPr>
          <a:lstStyle/>
          <a:p>
            <a:pPr marL="152400" indent="0">
              <a:buNone/>
            </a:pPr>
            <a:r>
              <a:rPr lang="en-US" sz="2000" dirty="0"/>
              <a:t>Attributes add extra information to HTML elements</a:t>
            </a:r>
          </a:p>
          <a:p>
            <a:pPr marL="609600" lvl="1" indent="0">
              <a:buNone/>
            </a:pPr>
            <a:r>
              <a:rPr lang="en-US" sz="1800" dirty="0"/>
              <a:t>They allow developers to customize the behavior of elements</a:t>
            </a:r>
          </a:p>
          <a:p>
            <a:pPr marL="609600" lvl="1" indent="0">
              <a:buNone/>
            </a:pPr>
            <a:endParaRPr lang="en-US" sz="1800" dirty="0"/>
          </a:p>
          <a:p>
            <a:pPr marL="152400" indent="0">
              <a:buNone/>
            </a:pPr>
            <a:r>
              <a:rPr lang="en-US" sz="2000" dirty="0"/>
              <a:t>Attributes go inside of the </a:t>
            </a:r>
            <a:r>
              <a:rPr lang="en-US" sz="2000" i="1" dirty="0"/>
              <a:t>opening tag</a:t>
            </a:r>
            <a:r>
              <a:rPr lang="en-US" sz="2000" dirty="0"/>
              <a:t> of an HTML element</a:t>
            </a:r>
          </a:p>
          <a:p>
            <a:pPr marL="42863" indent="0">
              <a:buNone/>
            </a:pPr>
            <a:endParaRPr lang="en-US" dirty="0"/>
          </a:p>
          <a:p>
            <a:pPr marL="42863" indent="0" algn="ctr">
              <a:buNone/>
            </a:pPr>
            <a:r>
              <a:rPr lang="en-US" sz="4400" dirty="0">
                <a:solidFill>
                  <a:srgbClr val="800000"/>
                </a:solidFill>
                <a:latin typeface="Consolas" panose="020B0609020204030204" pitchFamily="49" charset="0"/>
              </a:rPr>
              <a:t>&lt;a</a:t>
            </a:r>
            <a:r>
              <a:rPr 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"file.html"</a:t>
            </a:r>
            <a:r>
              <a:rPr 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4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52400" indent="0">
              <a:buNone/>
            </a:pPr>
            <a:endParaRPr lang="en-US" sz="1800" dirty="0"/>
          </a:p>
          <a:p>
            <a:pPr marL="152400" indent="0">
              <a:buNone/>
            </a:pPr>
            <a:endParaRPr lang="en-US" sz="1800" dirty="0"/>
          </a:p>
          <a:p>
            <a:pPr marL="152400" indent="0">
              <a:buNone/>
            </a:pPr>
            <a:r>
              <a:rPr lang="en-US" sz="2000" dirty="0"/>
              <a:t>Attribute name, equals sign, quotation marks, attribute value</a:t>
            </a:r>
          </a:p>
          <a:p>
            <a:pPr marL="42863" indent="0">
              <a:buNone/>
            </a:pPr>
            <a:endParaRPr lang="en-US" dirty="0"/>
          </a:p>
          <a:p>
            <a:endParaRPr lang="en-US" dirty="0"/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281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Mini-Quiz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2863" indent="0" algn="ctr">
              <a:buNone/>
            </a:pP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3600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3600" dirty="0">
                <a:solidFill>
                  <a:srgbClr val="0000FF"/>
                </a:solidFill>
                <a:latin typeface="Consolas" panose="020B0609020204030204" pitchFamily="49" charset="0"/>
              </a:rPr>
              <a:t>"dog.png"</a:t>
            </a:r>
            <a:r>
              <a:rPr 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36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</a:p>
          <a:p>
            <a:pPr lvl="0">
              <a:buClr>
                <a:srgbClr val="98989A"/>
              </a:buClr>
            </a:pPr>
            <a:endParaRPr lang="en-US" dirty="0">
              <a:solidFill>
                <a:srgbClr val="56565A"/>
              </a:solidFill>
            </a:endParaRPr>
          </a:p>
          <a:p>
            <a:pPr marL="42863" indent="0">
              <a:buClr>
                <a:srgbClr val="98989A"/>
              </a:buClr>
              <a:buNone/>
            </a:pPr>
            <a:r>
              <a:rPr lang="en-US" sz="3000" dirty="0">
                <a:solidFill>
                  <a:srgbClr val="56565A"/>
                </a:solidFill>
              </a:rPr>
              <a:t>What is the </a:t>
            </a:r>
            <a:r>
              <a:rPr lang="en-US" sz="3000" i="1" dirty="0">
                <a:solidFill>
                  <a:srgbClr val="56565A"/>
                </a:solidFill>
              </a:rPr>
              <a:t>attribute name</a:t>
            </a:r>
            <a:r>
              <a:rPr lang="en-US" sz="3000" dirty="0">
                <a:solidFill>
                  <a:srgbClr val="56565A"/>
                </a:solidFill>
              </a:rPr>
              <a:t>?</a:t>
            </a:r>
          </a:p>
          <a:p>
            <a:pPr marL="42863" indent="0">
              <a:buClr>
                <a:srgbClr val="98989A"/>
              </a:buClr>
              <a:buNone/>
            </a:pPr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endParaRPr lang="en-US" sz="3600" dirty="0">
              <a:solidFill>
                <a:srgbClr val="56565A"/>
              </a:solidFill>
            </a:endParaRPr>
          </a:p>
          <a:p>
            <a:pPr marL="42863" indent="0">
              <a:buClr>
                <a:srgbClr val="98989A"/>
              </a:buClr>
              <a:buNone/>
            </a:pPr>
            <a:endParaRPr lang="en-US" sz="1400" dirty="0">
              <a:solidFill>
                <a:srgbClr val="56565A"/>
              </a:solidFill>
            </a:endParaRPr>
          </a:p>
          <a:p>
            <a:pPr marL="42863" indent="0">
              <a:buClr>
                <a:srgbClr val="98989A"/>
              </a:buClr>
              <a:buNone/>
            </a:pPr>
            <a:r>
              <a:rPr lang="en-US" sz="3000" dirty="0">
                <a:solidFill>
                  <a:srgbClr val="56565A"/>
                </a:solidFill>
              </a:rPr>
              <a:t>What is the </a:t>
            </a:r>
            <a:r>
              <a:rPr lang="en-US" sz="3000" i="1" dirty="0">
                <a:solidFill>
                  <a:srgbClr val="56565A"/>
                </a:solidFill>
              </a:rPr>
              <a:t>attribute value</a:t>
            </a:r>
            <a:r>
              <a:rPr lang="en-US" sz="3000" dirty="0">
                <a:solidFill>
                  <a:srgbClr val="56565A"/>
                </a:solidFill>
              </a:rPr>
              <a:t>?</a:t>
            </a:r>
          </a:p>
          <a:p>
            <a:pPr marL="42863" indent="0">
              <a:buClr>
                <a:srgbClr val="98989A"/>
              </a:buClr>
              <a:buNone/>
            </a:pPr>
            <a:r>
              <a:rPr lang="en-US" sz="3600" dirty="0">
                <a:solidFill>
                  <a:srgbClr val="0000FF"/>
                </a:solidFill>
                <a:latin typeface="Consolas" panose="020B0609020204030204" pitchFamily="49" charset="0"/>
              </a:rPr>
              <a:t>dog.png</a:t>
            </a:r>
            <a:endParaRPr lang="en-US" sz="3600" dirty="0">
              <a:solidFill>
                <a:srgbClr val="56565A"/>
              </a:solidFill>
            </a:endParaRPr>
          </a:p>
          <a:p>
            <a:pPr marL="42863" indent="0" algn="ctr">
              <a:buNone/>
            </a:pPr>
            <a:endParaRPr lang="en-US" sz="36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pPr marL="42863" indent="0" algn="ctr">
              <a:buNone/>
            </a:pPr>
            <a:endParaRPr 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5235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Attributes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2475"/>
            <a:ext cx="9144000" cy="3416400"/>
          </a:xfrm>
        </p:spPr>
        <p:txBody>
          <a:bodyPr anchor="ctr">
            <a:normAutofit/>
          </a:bodyPr>
          <a:lstStyle/>
          <a:p>
            <a:pPr marL="42863" indent="0" algn="ctr">
              <a:buNone/>
            </a:pPr>
            <a:r>
              <a:rPr lang="en-US" sz="2400" b="1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https://jsfiddle.net/Lhodz460/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906886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p54"/>
          <p:cNvSpPr txBox="1">
            <a:spLocks noGrp="1"/>
          </p:cNvSpPr>
          <p:nvPr>
            <p:ph type="subTitle" idx="1"/>
          </p:nvPr>
        </p:nvSpPr>
        <p:spPr>
          <a:xfrm>
            <a:off x="720000" y="1824225"/>
            <a:ext cx="5650200" cy="3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DO YOU HAVE ANY QUESTIONS?</a:t>
            </a:r>
            <a:endParaRPr dirty="0"/>
          </a:p>
        </p:txBody>
      </p:sp>
      <p:sp>
        <p:nvSpPr>
          <p:cNvPr id="1504" name="Google Shape;1504;p54"/>
          <p:cNvSpPr txBox="1">
            <a:spLocks noGrp="1"/>
          </p:cNvSpPr>
          <p:nvPr>
            <p:ph type="ctrTitle"/>
          </p:nvPr>
        </p:nvSpPr>
        <p:spPr>
          <a:xfrm>
            <a:off x="720000" y="1049325"/>
            <a:ext cx="5650200" cy="77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1542" name="Google Shape;1542;p54"/>
          <p:cNvSpPr/>
          <p:nvPr/>
        </p:nvSpPr>
        <p:spPr>
          <a:xfrm>
            <a:off x="57005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3" name="Google Shape;1543;p54"/>
          <p:cNvSpPr/>
          <p:nvPr/>
        </p:nvSpPr>
        <p:spPr>
          <a:xfrm>
            <a:off x="49015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4" name="Google Shape;1544;p54"/>
          <p:cNvSpPr/>
          <p:nvPr/>
        </p:nvSpPr>
        <p:spPr>
          <a:xfrm>
            <a:off x="170867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5" name="Google Shape;1545;p54"/>
          <p:cNvSpPr/>
          <p:nvPr/>
        </p:nvSpPr>
        <p:spPr>
          <a:xfrm>
            <a:off x="162877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6" name="Google Shape;1546;p54"/>
          <p:cNvSpPr/>
          <p:nvPr/>
        </p:nvSpPr>
        <p:spPr>
          <a:xfrm>
            <a:off x="284730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7" name="Google Shape;1547;p54"/>
          <p:cNvSpPr/>
          <p:nvPr/>
        </p:nvSpPr>
        <p:spPr>
          <a:xfrm>
            <a:off x="276740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4C185-2733-82A6-CD26-B6BB946D14B6}"/>
              </a:ext>
            </a:extLst>
          </p:cNvPr>
          <p:cNvSpPr/>
          <p:nvPr/>
        </p:nvSpPr>
        <p:spPr>
          <a:xfrm>
            <a:off x="4211782" y="3837709"/>
            <a:ext cx="4253345" cy="477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Grid Interface &amp; Sticky Notes Company Profile by Slidesgo">
  <a:themeElements>
    <a:clrScheme name="Simple Light">
      <a:dk1>
        <a:srgbClr val="000000"/>
      </a:dk1>
      <a:lt1>
        <a:srgbClr val="FFFFFF"/>
      </a:lt1>
      <a:dk2>
        <a:srgbClr val="AA2FE6"/>
      </a:dk2>
      <a:lt2>
        <a:srgbClr val="FF7ACD"/>
      </a:lt2>
      <a:accent1>
        <a:srgbClr val="FFA27A"/>
      </a:accent1>
      <a:accent2>
        <a:srgbClr val="FFDF6D"/>
      </a:accent2>
      <a:accent3>
        <a:srgbClr val="8FFFC1"/>
      </a:accent3>
      <a:accent4>
        <a:srgbClr val="24069D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512</Words>
  <Application>Microsoft Office PowerPoint</Application>
  <PresentationFormat>On-screen Show (16:9)</PresentationFormat>
  <Paragraphs>85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Consolas</vt:lpstr>
      <vt:lpstr>Miriam Libre</vt:lpstr>
      <vt:lpstr>Krona One</vt:lpstr>
      <vt:lpstr>Segoe UI</vt:lpstr>
      <vt:lpstr>Arial</vt:lpstr>
      <vt:lpstr>Roboto Condensed Light</vt:lpstr>
      <vt:lpstr>Blue Grid Interface &amp; Sticky Notes Company Profile by Slidesgo</vt:lpstr>
      <vt:lpstr>HTML Elements</vt:lpstr>
      <vt:lpstr>PowerPoint Presentation</vt:lpstr>
      <vt:lpstr>PowerPoint Presentation</vt:lpstr>
      <vt:lpstr>Header Elements</vt:lpstr>
      <vt:lpstr>Header Elements</vt:lpstr>
      <vt:lpstr>The Paragraph Element</vt:lpstr>
      <vt:lpstr>The Paragraph Element</vt:lpstr>
      <vt:lpstr>The Hyperlink Element</vt:lpstr>
      <vt:lpstr>The Hyperlink Element</vt:lpstr>
      <vt:lpstr>The Image Element</vt:lpstr>
      <vt:lpstr>The Image Element</vt:lpstr>
      <vt:lpstr>Example</vt:lpstr>
      <vt:lpstr>Attributes</vt:lpstr>
      <vt:lpstr>Attribute Example: &lt;a&gt;</vt:lpstr>
      <vt:lpstr>What Are Attributes?</vt:lpstr>
      <vt:lpstr>Mini-Quiz</vt:lpstr>
      <vt:lpstr>Attributes Examples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 HTML!</dc:title>
  <cp:lastModifiedBy>Joseph Maxwell</cp:lastModifiedBy>
  <cp:revision>11</cp:revision>
  <dcterms:modified xsi:type="dcterms:W3CDTF">2026-01-30T18:02:01Z</dcterms:modified>
</cp:coreProperties>
</file>