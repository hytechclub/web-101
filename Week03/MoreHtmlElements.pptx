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9"/>
  </p:notesMasterIdLst>
  <p:sldIdLst>
    <p:sldId id="256" r:id="rId2"/>
    <p:sldId id="302" r:id="rId3"/>
    <p:sldId id="318" r:id="rId4"/>
    <p:sldId id="314" r:id="rId5"/>
    <p:sldId id="315" r:id="rId6"/>
    <p:sldId id="316" r:id="rId7"/>
    <p:sldId id="317" r:id="rId8"/>
    <p:sldId id="313" r:id="rId9"/>
    <p:sldId id="301" r:id="rId10"/>
    <p:sldId id="306" r:id="rId11"/>
    <p:sldId id="307" r:id="rId12"/>
    <p:sldId id="308" r:id="rId13"/>
    <p:sldId id="309" r:id="rId14"/>
    <p:sldId id="310" r:id="rId15"/>
    <p:sldId id="312" r:id="rId16"/>
    <p:sldId id="311" r:id="rId17"/>
    <p:sldId id="279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Krona One" panose="020B0604020202020204" charset="0"/>
      <p:regular r:id="rId24"/>
    </p:embeddedFont>
    <p:embeddedFont>
      <p:font typeface="Miriam Libre" panose="00000500000000000000" pitchFamily="2" charset="-79"/>
      <p:regular r:id="rId25"/>
      <p:bold r:id="rId26"/>
    </p:embeddedFont>
    <p:embeddedFont>
      <p:font typeface="Roboto Condensed Light" panose="02000000000000000000" pitchFamily="2" charset="0"/>
      <p:regular r:id="rId27"/>
      <p:italic r:id="rId28"/>
    </p:embeddedFont>
    <p:embeddedFont>
      <p:font typeface="Segoe UI" panose="020B0502040204020203" pitchFamily="3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64A8121-69E1-4132-A0E2-CE15BAFBFB63}">
  <a:tblStyle styleId="{864A8121-69E1-4132-A0E2-CE15BAFBF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598" autoAdjust="0"/>
  </p:normalViewPr>
  <p:slideViewPr>
    <p:cSldViewPr snapToGrid="0">
      <p:cViewPr varScale="1">
        <p:scale>
          <a:sx n="119" d="100"/>
          <a:sy n="119" d="100"/>
        </p:scale>
        <p:origin x="137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50">
              <a:solidFill>
                <a:srgbClr val="5F7D9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bullet points on this</a:t>
            </a:r>
            <a:r>
              <a:rPr lang="en-US" baseline="0" dirty="0"/>
              <a:t> slide are an unordered list!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An ordered list has numbers – for example, the MCU movies in release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EC8F7F9-57EC-49CF-9FCD-2B781E4B449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2802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bullet points on this</a:t>
            </a:r>
            <a:r>
              <a:rPr lang="en-US" baseline="0" dirty="0"/>
              <a:t> slide are an unordered list!</a:t>
            </a:r>
          </a:p>
          <a:p>
            <a:pPr marL="171450" indent="-171450">
              <a:buFontTx/>
              <a:buChar char="-"/>
            </a:pPr>
            <a:r>
              <a:rPr lang="en-US" baseline="0" dirty="0"/>
              <a:t>An ordered list has numbers – for example, the MCU movies in release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EC8F7F9-57EC-49CF-9FCD-2B781E4B449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2140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the </a:t>
            </a:r>
            <a:r>
              <a:rPr lang="en-US" dirty="0" err="1"/>
              <a:t>Repl</a:t>
            </a:r>
            <a:r>
              <a:rPr lang="en-US" dirty="0"/>
              <a:t> to show lists in action.</a:t>
            </a:r>
          </a:p>
          <a:p>
            <a:pPr marL="171450" indent="-171450">
              <a:buFontTx/>
              <a:buChar char="-"/>
            </a:pPr>
            <a:r>
              <a:rPr lang="en-US" dirty="0"/>
              <a:t>Here we really want to emphasize the hierarchical structure of HTML</a:t>
            </a:r>
          </a:p>
          <a:p>
            <a:pPr marL="171450" indent="-171450">
              <a:buFontTx/>
              <a:buChar char="-"/>
            </a:pPr>
            <a:r>
              <a:rPr lang="en-US" dirty="0"/>
              <a:t>Also show the difference between </a:t>
            </a:r>
            <a:r>
              <a:rPr lang="en-US" dirty="0" err="1"/>
              <a:t>ol</a:t>
            </a:r>
            <a:r>
              <a:rPr lang="en-US" dirty="0"/>
              <a:t> and ul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EC8F7F9-57EC-49CF-9FCD-2B781E4B449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15259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Ask the students to</a:t>
            </a:r>
            <a:r>
              <a:rPr lang="en-US" baseline="0" dirty="0"/>
              <a:t> guess how each of these input types might appear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EC8F7F9-57EC-49CF-9FCD-2B781E4B449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6089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EC8F7F9-57EC-49CF-9FCD-2B781E4B449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4282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the </a:t>
            </a:r>
            <a:r>
              <a:rPr lang="en-US" dirty="0" err="1"/>
              <a:t>Repl</a:t>
            </a:r>
            <a:r>
              <a:rPr lang="en-US" dirty="0"/>
              <a:t> to show inputs </a:t>
            </a:r>
            <a:r>
              <a:rPr lang="en-US"/>
              <a:t>in 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EC8F7F9-57EC-49CF-9FCD-2B781E4B449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3004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nesting as a concept using geography.</a:t>
            </a:r>
          </a:p>
          <a:p>
            <a:endParaRPr lang="en-US" dirty="0"/>
          </a:p>
          <a:p>
            <a:r>
              <a:rPr lang="en-US" dirty="0"/>
              <a:t>Start</a:t>
            </a:r>
            <a:r>
              <a:rPr lang="en-US" baseline="0" dirty="0"/>
              <a:t> by writing the following on the whiteboard (leave a lot of space around the tags):</a:t>
            </a:r>
          </a:p>
          <a:p>
            <a:endParaRPr lang="en-US" baseline="0" dirty="0"/>
          </a:p>
          <a:p>
            <a:r>
              <a:rPr lang="en-US" b="1" baseline="0" dirty="0"/>
              <a:t>&lt;county name=“Cuyahoga”&gt;</a:t>
            </a:r>
          </a:p>
          <a:p>
            <a:endParaRPr lang="en-US" b="1" baseline="0" dirty="0"/>
          </a:p>
          <a:p>
            <a:r>
              <a:rPr lang="en-US" b="1" baseline="0" dirty="0"/>
              <a:t>&lt;/county&gt;</a:t>
            </a:r>
          </a:p>
          <a:p>
            <a:endParaRPr lang="en-US" baseline="0" dirty="0"/>
          </a:p>
          <a:p>
            <a:r>
              <a:rPr lang="en-US" b="0" baseline="0" dirty="0"/>
              <a:t>Ask what goes within a county – a city! Add that to the code:</a:t>
            </a:r>
          </a:p>
          <a:p>
            <a:endParaRPr lang="en-US" b="0" baseline="0" dirty="0"/>
          </a:p>
          <a:p>
            <a:r>
              <a:rPr lang="en-US" b="1" baseline="0" dirty="0"/>
              <a:t>&lt;county name=“Cuyahoga”&gt;</a:t>
            </a:r>
          </a:p>
          <a:p>
            <a:r>
              <a:rPr lang="en-US" b="1" baseline="0" dirty="0"/>
              <a:t>    &lt;city name=“Westlake”&gt;&lt;/city&gt;</a:t>
            </a:r>
          </a:p>
          <a:p>
            <a:r>
              <a:rPr lang="en-US" b="1" baseline="0" dirty="0"/>
              <a:t>&lt;/county&gt;</a:t>
            </a:r>
          </a:p>
          <a:p>
            <a:endParaRPr lang="en-US" b="1" baseline="0" dirty="0"/>
          </a:p>
          <a:p>
            <a:r>
              <a:rPr lang="en-US" b="0" baseline="0" dirty="0"/>
              <a:t>Ask what goes around a county – a state! Add that to the code:</a:t>
            </a:r>
          </a:p>
          <a:p>
            <a:endParaRPr lang="en-US" b="0" baseline="0" dirty="0"/>
          </a:p>
          <a:p>
            <a:r>
              <a:rPr lang="en-US" b="1" baseline="0" dirty="0"/>
              <a:t>&lt;state name=“Ohio”&gt;</a:t>
            </a:r>
          </a:p>
          <a:p>
            <a:r>
              <a:rPr lang="en-US" b="1" baseline="0" dirty="0"/>
              <a:t>    &lt;county name=“Cuyahoga”&gt;</a:t>
            </a:r>
          </a:p>
          <a:p>
            <a:r>
              <a:rPr lang="en-US" b="1" baseline="0" dirty="0"/>
              <a:t>        &lt;city name=“Westlake”&gt;&lt;/city&gt;</a:t>
            </a:r>
          </a:p>
          <a:p>
            <a:r>
              <a:rPr lang="en-US" b="1" baseline="0" dirty="0"/>
              <a:t>    &lt;/county&gt;</a:t>
            </a:r>
          </a:p>
          <a:p>
            <a:r>
              <a:rPr lang="en-US" b="1" baseline="0" dirty="0"/>
              <a:t>&lt;/state&gt;</a:t>
            </a:r>
            <a:endParaRPr lang="en-US" b="0" baseline="0" dirty="0"/>
          </a:p>
          <a:p>
            <a:endParaRPr lang="en-US" b="0" baseline="0" dirty="0"/>
          </a:p>
          <a:p>
            <a:r>
              <a:rPr lang="en-US" b="0" baseline="0" dirty="0"/>
              <a:t>Use this concept to explain nesting. Explain parent/child relationships. The next slide has an example using lists.</a:t>
            </a:r>
            <a:endParaRPr lang="en-US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DEC8F7F9-57EC-49CF-9FCD-2B781E4B449F}" type="slidenum">
              <a:rPr kumimoji="0" lang="en-U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20233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</a:t>
            </a:r>
            <a:r>
              <a:rPr lang="en-US" baseline="0" dirty="0"/>
              <a:t> for examples of tabular data. Lots of times there are things like stats (for sports, </a:t>
            </a:r>
            <a:r>
              <a:rPr lang="en-US" baseline="0" dirty="0" err="1"/>
              <a:t>etc</a:t>
            </a:r>
            <a:r>
              <a:rPr lang="en-US" baseline="0" dirty="0"/>
              <a:t>) or other information about people.</a:t>
            </a:r>
          </a:p>
          <a:p>
            <a:endParaRPr lang="en-US" baseline="0" dirty="0"/>
          </a:p>
          <a:p>
            <a:r>
              <a:rPr lang="en-US" baseline="0" dirty="0"/>
              <a:t>Show an example of this table, and ask the students what they think it is about.</a:t>
            </a:r>
          </a:p>
          <a:p>
            <a:endParaRPr lang="en-US" baseline="0" dirty="0"/>
          </a:p>
          <a:p>
            <a:r>
              <a:rPr lang="en-US" baseline="0" dirty="0"/>
              <a:t>It’s about birds.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15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</a:t>
            </a:r>
            <a:r>
              <a:rPr lang="en-US" baseline="0" dirty="0"/>
              <a:t> element that goes into a table. These will make more sense once we see the tables in action.</a:t>
            </a:r>
          </a:p>
          <a:p>
            <a:endParaRPr lang="en-US" baseline="0" dirty="0"/>
          </a:p>
          <a:p>
            <a:r>
              <a:rPr lang="en-US" baseline="0" dirty="0"/>
              <a:t>The Repl contains an actual full table in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71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by forking the Repl project. E</a:t>
            </a:r>
            <a:r>
              <a:rPr lang="en-US" baseline="0" dirty="0"/>
              <a:t>mphasize the relationships between each table element. Ask students which elements are parents/children/</a:t>
            </a:r>
            <a:r>
              <a:rPr lang="en-US" baseline="0" dirty="0" err="1"/>
              <a:t>sibilings</a:t>
            </a:r>
            <a:r>
              <a:rPr lang="en-US" baseline="0" dirty="0"/>
              <a:t>/etc.</a:t>
            </a:r>
          </a:p>
          <a:p>
            <a:endParaRPr lang="en-US" baseline="0" dirty="0"/>
          </a:p>
          <a:p>
            <a:r>
              <a:rPr lang="en-US" baseline="0" dirty="0"/>
              <a:t>Additionally, show the </a:t>
            </a:r>
            <a:r>
              <a:rPr lang="en-US" b="1" baseline="0" dirty="0"/>
              <a:t>border</a:t>
            </a:r>
            <a:r>
              <a:rPr lang="en-US" b="0" baseline="0" dirty="0"/>
              <a:t> attribute – it starts as 0, so change it to 1 to see the border.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60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iframes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905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</a:t>
            </a:r>
            <a:r>
              <a:rPr lang="en-US" dirty="0" err="1"/>
              <a:t>Repl</a:t>
            </a:r>
            <a:r>
              <a:rPr lang="en-US" dirty="0"/>
              <a:t>,</a:t>
            </a:r>
            <a:r>
              <a:rPr lang="en-US" baseline="0" dirty="0"/>
              <a:t> emphasize the use of attributes. Add an attribute for width, change the height attribute. Also show embedding a YouTube video for fun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8F7F9-57EC-49CF-9FCD-2B781E4B449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94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e30e247bb5_0_42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e30e247bb5_0_42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614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857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351850"/>
            <a:ext cx="7704000" cy="32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5"/>
          <p:cNvSpPr/>
          <p:nvPr/>
        </p:nvSpPr>
        <p:spPr>
          <a:xfrm>
            <a:off x="561425" y="622625"/>
            <a:ext cx="8172600" cy="29121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5"/>
          <p:cNvSpPr/>
          <p:nvPr/>
        </p:nvSpPr>
        <p:spPr>
          <a:xfrm>
            <a:off x="4044125" y="3746300"/>
            <a:ext cx="4689900" cy="939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5"/>
          <p:cNvSpPr/>
          <p:nvPr/>
        </p:nvSpPr>
        <p:spPr>
          <a:xfrm>
            <a:off x="485700" y="540000"/>
            <a:ext cx="8172600" cy="29121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5"/>
          <p:cNvSpPr/>
          <p:nvPr/>
        </p:nvSpPr>
        <p:spPr>
          <a:xfrm>
            <a:off x="3968400" y="3663675"/>
            <a:ext cx="4689900" cy="9396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25"/>
          <p:cNvSpPr/>
          <p:nvPr/>
        </p:nvSpPr>
        <p:spPr>
          <a:xfrm>
            <a:off x="485700" y="539375"/>
            <a:ext cx="81726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5"/>
          <p:cNvSpPr/>
          <p:nvPr/>
        </p:nvSpPr>
        <p:spPr>
          <a:xfrm>
            <a:off x="720000" y="628925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5"/>
          <p:cNvSpPr/>
          <p:nvPr/>
        </p:nvSpPr>
        <p:spPr>
          <a:xfrm>
            <a:off x="905925" y="628925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"/>
          <p:cNvSpPr/>
          <p:nvPr/>
        </p:nvSpPr>
        <p:spPr>
          <a:xfrm>
            <a:off x="1091850" y="628925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5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600" b="1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5" name="Google Shape;395;p25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highlight>
                  <a:schemeClr val="accent3"/>
                </a:highlight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Krona One"/>
              <a:buNone/>
              <a:defRPr sz="2000" b="1"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396" name="Google Shape;396;p25"/>
          <p:cNvSpPr txBox="1">
            <a:spLocks noGrp="1"/>
          </p:cNvSpPr>
          <p:nvPr>
            <p:ph type="subTitle" idx="2"/>
          </p:nvPr>
        </p:nvSpPr>
        <p:spPr>
          <a:xfrm>
            <a:off x="720000" y="2299125"/>
            <a:ext cx="2762100" cy="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5"/>
          <p:cNvSpPr txBox="1"/>
          <p:nvPr/>
        </p:nvSpPr>
        <p:spPr>
          <a:xfrm>
            <a:off x="4202700" y="3883895"/>
            <a:ext cx="42951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Miriam Libre"/>
                <a:ea typeface="Miriam Libre"/>
                <a:cs typeface="Miriam Libre"/>
                <a:sym typeface="Miriam Libr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Miriam Libre"/>
              <a:ea typeface="Miriam Libre"/>
              <a:cs typeface="Miriam Libre"/>
              <a:sym typeface="Miriam Libre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6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26"/>
          <p:cNvSpPr/>
          <p:nvPr/>
        </p:nvSpPr>
        <p:spPr>
          <a:xfrm>
            <a:off x="561425" y="1356100"/>
            <a:ext cx="8172600" cy="34164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485700" y="1273350"/>
            <a:ext cx="8172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/>
          <p:nvPr/>
        </p:nvSpPr>
        <p:spPr>
          <a:xfrm>
            <a:off x="561425" y="1356600"/>
            <a:ext cx="47154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485700" y="1273975"/>
            <a:ext cx="47154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7"/>
          <p:cNvSpPr/>
          <p:nvPr/>
        </p:nvSpPr>
        <p:spPr>
          <a:xfrm>
            <a:off x="485700" y="1273350"/>
            <a:ext cx="4715400" cy="275400"/>
          </a:xfrm>
          <a:prstGeom prst="rect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5493300" y="1356600"/>
            <a:ext cx="32406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417575" y="1273975"/>
            <a:ext cx="32406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7"/>
          <p:cNvSpPr/>
          <p:nvPr/>
        </p:nvSpPr>
        <p:spPr>
          <a:xfrm>
            <a:off x="5417575" y="1273350"/>
            <a:ext cx="3240600" cy="2754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5651875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5837800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023725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_2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614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4857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4857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8"/>
          <p:cNvSpPr/>
          <p:nvPr/>
        </p:nvSpPr>
        <p:spPr>
          <a:xfrm>
            <a:off x="7200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8"/>
          <p:cNvSpPr/>
          <p:nvPr/>
        </p:nvSpPr>
        <p:spPr>
          <a:xfrm>
            <a:off x="9059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10918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8"/>
          <p:cNvSpPr/>
          <p:nvPr/>
        </p:nvSpPr>
        <p:spPr>
          <a:xfrm>
            <a:off x="561425" y="461125"/>
            <a:ext cx="8172600" cy="691200"/>
          </a:xfrm>
          <a:prstGeom prst="rect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485700" y="378375"/>
            <a:ext cx="8172600" cy="6912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8306050" y="461125"/>
            <a:ext cx="236100" cy="236100"/>
          </a:xfrm>
          <a:prstGeom prst="mathMultiply">
            <a:avLst>
              <a:gd name="adj1" fmla="val 1928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4826525" y="1356600"/>
            <a:ext cx="3907500" cy="341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4750800" y="1273975"/>
            <a:ext cx="3907500" cy="341640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4750800" y="1273350"/>
            <a:ext cx="3907500" cy="275400"/>
          </a:xfrm>
          <a:prstGeom prst="rect">
            <a:avLst/>
          </a:prstGeom>
          <a:solidFill>
            <a:schemeClr val="dk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4985100" y="1362900"/>
            <a:ext cx="96300" cy="96300"/>
          </a:xfrm>
          <a:prstGeom prst="ellipse">
            <a:avLst/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5171025" y="1362900"/>
            <a:ext cx="96300" cy="963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5356950" y="1362900"/>
            <a:ext cx="96300" cy="96300"/>
          </a:xfrm>
          <a:prstGeom prst="ellipse">
            <a:avLst/>
          </a:prstGeom>
          <a:solidFill>
            <a:schemeClr val="accent3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EBF06C-5074-4EAE-BC2A-F332C3F56963}"/>
              </a:ext>
            </a:extLst>
          </p:cNvPr>
          <p:cNvSpPr/>
          <p:nvPr userDrawn="1"/>
        </p:nvSpPr>
        <p:spPr bwMode="auto">
          <a:xfrm>
            <a:off x="0" y="0"/>
            <a:ext cx="3886200" cy="5143500"/>
          </a:xfrm>
          <a:prstGeom prst="rect">
            <a:avLst/>
          </a:prstGeom>
          <a:solidFill>
            <a:schemeClr val="bg2"/>
          </a:solidFill>
          <a:ln w="12700">
            <a:noFill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0796D-FA9D-4300-8DDD-46D303CE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546621"/>
            <a:ext cx="3429000" cy="2053829"/>
          </a:xfrm>
        </p:spPr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2C5FA-CA46-428D-86B4-114D455DD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7650" y="1546621"/>
            <a:ext cx="4800600" cy="2053829"/>
          </a:xfrm>
        </p:spPr>
        <p:txBody>
          <a:bodyPr anchor="ctr">
            <a:normAutofit/>
          </a:bodyPr>
          <a:lstStyle>
            <a:lvl1pPr marL="258366" indent="-173831">
              <a:buFont typeface="Wingdings" panose="05000000000000000000" pitchFamily="2" charset="2"/>
              <a:buChar char="§"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C00ED-BF76-4FC6-8F76-A08D9AAE4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6BB6F-275F-40A4-B65D-77498F7D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07C52-7E90-4100-9E15-9963F85DF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609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51F5F-9E3D-461E-A9A2-DEAD886C2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ADA06-0604-402E-96FC-C5A69639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84CE-E12F-45BC-9163-59E6D2ABC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763E-B898-436D-883D-03711491D54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279CC-07CA-4AC5-A1AC-1010514E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0A737-103C-43F6-85F3-E27022DE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D44F4-F215-4E77-8A37-E5924A9890F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26AC1-0738-4DF2-AD94-A51900A39340}"/>
              </a:ext>
            </a:extLst>
          </p:cNvPr>
          <p:cNvCxnSpPr/>
          <p:nvPr userDrawn="1"/>
        </p:nvCxnSpPr>
        <p:spPr>
          <a:xfrm>
            <a:off x="285750" y="771525"/>
            <a:ext cx="8572500" cy="0"/>
          </a:xfrm>
          <a:prstGeom prst="line">
            <a:avLst/>
          </a:prstGeom>
          <a:ln w="28575">
            <a:gradFill>
              <a:gsLst>
                <a:gs pos="0">
                  <a:schemeClr val="accent2"/>
                </a:gs>
                <a:gs pos="99000">
                  <a:schemeClr val="accent1"/>
                </a:gs>
              </a:gsLst>
            </a:gra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962675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rona One"/>
              <a:buNone/>
              <a:defRPr sz="2800" b="1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●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○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iriam Libre"/>
              <a:buChar char="■"/>
              <a:defRPr sz="1600">
                <a:solidFill>
                  <a:schemeClr val="dk1"/>
                </a:solidFill>
                <a:latin typeface="Miriam Libre"/>
                <a:ea typeface="Miriam Libre"/>
                <a:cs typeface="Miriam Libre"/>
                <a:sym typeface="Miriam Libr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1" r:id="rId4"/>
    <p:sldLayoutId id="2147483672" r:id="rId5"/>
    <p:sldLayoutId id="2147483673" r:id="rId6"/>
    <p:sldLayoutId id="2147483674" r:id="rId7"/>
    <p:sldLayoutId id="2147483678" r:id="rId8"/>
    <p:sldLayoutId id="214748367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html-list-exampl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html-input-exampl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html-table-exampl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ytop.onrender.com/e/html-iframe-exampl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55171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ctrTitle"/>
          </p:nvPr>
        </p:nvSpPr>
        <p:spPr>
          <a:xfrm>
            <a:off x="720000" y="1138400"/>
            <a:ext cx="7704000" cy="20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Tables &amp; IFrames</a:t>
            </a:r>
            <a:endParaRPr sz="6000" dirty="0"/>
          </a:p>
        </p:txBody>
      </p:sp>
      <p:sp>
        <p:nvSpPr>
          <p:cNvPr id="445" name="Google Shape;445;p31"/>
          <p:cNvSpPr txBox="1">
            <a:spLocks noGrp="1"/>
          </p:cNvSpPr>
          <p:nvPr>
            <p:ph type="subTitle" idx="1"/>
          </p:nvPr>
        </p:nvSpPr>
        <p:spPr>
          <a:xfrm>
            <a:off x="720000" y="3907725"/>
            <a:ext cx="4152600" cy="4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Hy-Tech Club: Web 101</a:t>
            </a:r>
            <a:endParaRPr dirty="0"/>
          </a:p>
        </p:txBody>
      </p:sp>
      <p:sp>
        <p:nvSpPr>
          <p:cNvPr id="446" name="Google Shape;446;p31"/>
          <p:cNvSpPr/>
          <p:nvPr/>
        </p:nvSpPr>
        <p:spPr>
          <a:xfrm>
            <a:off x="54372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31"/>
          <p:cNvSpPr/>
          <p:nvPr/>
        </p:nvSpPr>
        <p:spPr>
          <a:xfrm>
            <a:off x="66558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"/>
          <p:cNvSpPr/>
          <p:nvPr/>
        </p:nvSpPr>
        <p:spPr>
          <a:xfrm>
            <a:off x="65759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31"/>
          <p:cNvSpPr/>
          <p:nvPr/>
        </p:nvSpPr>
        <p:spPr>
          <a:xfrm>
            <a:off x="779442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1"/>
          <p:cNvSpPr/>
          <p:nvPr/>
        </p:nvSpPr>
        <p:spPr>
          <a:xfrm>
            <a:off x="771452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E2B2A6-2588-BECE-DB70-950112F8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2289CE-B960-EEDA-377E-82719C37254C}"/>
              </a:ext>
            </a:extLst>
          </p:cNvPr>
          <p:cNvSpPr/>
          <p:nvPr/>
        </p:nvSpPr>
        <p:spPr>
          <a:xfrm>
            <a:off x="512618" y="1302327"/>
            <a:ext cx="8104909" cy="33458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List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95745" y="1351850"/>
            <a:ext cx="7828255" cy="1477076"/>
          </a:xfrm>
        </p:spPr>
        <p:txBody>
          <a:bodyPr/>
          <a:lstStyle/>
          <a:p>
            <a:pPr marL="3238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Lists are used to display groups of items</a:t>
            </a:r>
          </a:p>
          <a:p>
            <a:pPr marL="3238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They can be unordered (bullet points) or ordered (numbered)</a:t>
            </a:r>
          </a:p>
          <a:p>
            <a:pPr marL="3238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Each item is its own HTML element: </a:t>
            </a:r>
            <a:r>
              <a:rPr lang="en-US" sz="1800" b="1" dirty="0">
                <a:solidFill>
                  <a:schemeClr val="tx2"/>
                </a:solidFill>
                <a:latin typeface="Consolas" panose="020B0609020204030204" pitchFamily="49" charset="0"/>
              </a:rPr>
              <a:t>&lt;li&gt;</a:t>
            </a:r>
          </a:p>
          <a:p>
            <a:pPr marL="323850" indent="-1714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The list items are </a:t>
            </a:r>
            <a:r>
              <a:rPr lang="en-US" sz="1800" i="1" dirty="0">
                <a:solidFill>
                  <a:schemeClr val="bg1"/>
                </a:solidFill>
              </a:rPr>
              <a:t>children</a:t>
            </a:r>
            <a:r>
              <a:rPr lang="en-US" sz="1800" dirty="0">
                <a:solidFill>
                  <a:schemeClr val="bg1"/>
                </a:solidFill>
              </a:rPr>
              <a:t> and the list elements are the </a:t>
            </a:r>
            <a:r>
              <a:rPr lang="en-US" sz="1800" i="1" dirty="0">
                <a:solidFill>
                  <a:schemeClr val="bg1"/>
                </a:solidFill>
              </a:rPr>
              <a:t>parents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5745" y="2828926"/>
            <a:ext cx="3519874" cy="1883593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ul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it-IT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   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li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Eggs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li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it-IT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   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li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Milk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li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it-IT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ul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it-IT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03895" y="2828926"/>
            <a:ext cx="4282904" cy="1883593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ol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it-IT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   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li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Iron Man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li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it-IT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   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li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The Hulk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li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it-IT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ol</a:t>
            </a:r>
            <a:r>
              <a:rPr kumimoji="0" lang="it-IT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it-IT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655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2289CE-B960-EEDA-377E-82719C37254C}"/>
              </a:ext>
            </a:extLst>
          </p:cNvPr>
          <p:cNvSpPr/>
          <p:nvPr/>
        </p:nvSpPr>
        <p:spPr>
          <a:xfrm>
            <a:off x="512618" y="1302327"/>
            <a:ext cx="8104909" cy="33458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List Elements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2ADD2D-F1DF-C59D-BA4C-8766F4E27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738" y="1490424"/>
            <a:ext cx="4877481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4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1006"/>
            <a:ext cx="7704000" cy="572700"/>
          </a:xfrm>
        </p:spPr>
        <p:txBody>
          <a:bodyPr anchor="ctr"/>
          <a:lstStyle/>
          <a:p>
            <a:r>
              <a:rPr lang="en-US" dirty="0">
                <a:solidFill>
                  <a:schemeClr val="bg1"/>
                </a:solidFill>
              </a:rPr>
              <a:t>List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https://hytop.onrender.com/e/html-list-example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86677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3D7ADC-B456-4174-914A-1C733DC15F8B}"/>
              </a:ext>
            </a:extLst>
          </p:cNvPr>
          <p:cNvSpPr/>
          <p:nvPr/>
        </p:nvSpPr>
        <p:spPr>
          <a:xfrm>
            <a:off x="512618" y="1302327"/>
            <a:ext cx="8104909" cy="33458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sz="3000" dirty="0">
                <a:solidFill>
                  <a:schemeClr val="tx1"/>
                </a:solidFill>
                <a:latin typeface="Consolas" panose="020B0609020204030204" pitchFamily="49" charset="0"/>
              </a:rPr>
              <a:t>&lt;input&gt;</a:t>
            </a:r>
            <a:r>
              <a:rPr lang="en-US" dirty="0">
                <a:solidFill>
                  <a:schemeClr val="tx1"/>
                </a:solidFill>
              </a:rPr>
              <a:t>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20000" y="1351850"/>
            <a:ext cx="2556600" cy="3251700"/>
          </a:xfrm>
        </p:spPr>
        <p:txBody>
          <a:bodyPr>
            <a:noAutofit/>
          </a:bodyPr>
          <a:lstStyle/>
          <a:p>
            <a:pPr marL="152400" indent="0">
              <a:buNone/>
            </a:pP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US" sz="1600" dirty="0">
                <a:solidFill>
                  <a:schemeClr val="bg1"/>
                </a:solidFill>
              </a:rPr>
              <a:t> are interactive controls that accept data from the user</a:t>
            </a:r>
          </a:p>
          <a:p>
            <a:pPr marL="15240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15240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</a:t>
            </a:r>
            <a:r>
              <a:rPr lang="en-US" sz="1600" dirty="0">
                <a:solidFill>
                  <a:schemeClr val="bg1"/>
                </a:solidFill>
              </a:rPr>
              <a:t> attribute determines how it appears</a:t>
            </a:r>
          </a:p>
          <a:p>
            <a:pPr marL="15240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15240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It is a </a:t>
            </a:r>
            <a:r>
              <a:rPr lang="en-US" sz="1600" i="1" dirty="0">
                <a:solidFill>
                  <a:schemeClr val="bg1"/>
                </a:solidFill>
              </a:rPr>
              <a:t>self-closing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594" y="1554154"/>
            <a:ext cx="5045933" cy="2714589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input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type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"text"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/&gt;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input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type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"button"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/&gt;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input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type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"radio"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/&gt;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input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type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"checkbox"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/&gt;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input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type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"range"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/&gt;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input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type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"submit"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/&gt;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449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441792-E61C-AFC9-A29D-3DA72F7B03B2}"/>
              </a:ext>
            </a:extLst>
          </p:cNvPr>
          <p:cNvSpPr/>
          <p:nvPr/>
        </p:nvSpPr>
        <p:spPr>
          <a:xfrm>
            <a:off x="512618" y="1302327"/>
            <a:ext cx="8104909" cy="33458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Special Inputs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textarea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&gt;&lt;/</a:t>
            </a:r>
            <a:r>
              <a:rPr lang="en-U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textarea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is used to create a multi-line text box</a:t>
            </a:r>
          </a:p>
          <a:p>
            <a:pPr marL="152400" indent="0">
              <a:buNone/>
            </a:pP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select</a:t>
            </a:r>
            <a:r>
              <a:rPr lang="en-US" sz="16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rgbClr val="54C8E8">
                    <a:lumMod val="60000"/>
                    <a:lumOff val="40000"/>
                  </a:srgbClr>
                </a:solidFill>
                <a:latin typeface="Consolas" panose="020B0609020204030204" pitchFamily="49" charset="0"/>
              </a:rPr>
              <a:t>option</a:t>
            </a:r>
            <a:r>
              <a:rPr lang="en-US" sz="1600" dirty="0">
                <a:solidFill>
                  <a:schemeClr val="bg1"/>
                </a:solidFill>
              </a:rPr>
              <a:t> are used to create a dropdown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3697" y="2450523"/>
            <a:ext cx="6762749" cy="1883593"/>
          </a:xfrm>
          <a:prstGeom prst="rect">
            <a:avLst/>
          </a:prstGeom>
          <a:noFill/>
        </p:spPr>
        <p:txBody>
          <a:bodyPr wrap="none" lIns="137160" tIns="109728" rIns="137160" bIns="109728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select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  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option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value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"1"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One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option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  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option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 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value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=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"2"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Two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option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&lt;/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select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nsolas" panose="020B0609020204030204" pitchFamily="49" charset="0"/>
                <a:cs typeface="Arial"/>
                <a:sym typeface="Arial"/>
              </a:rPr>
              <a:t>&gt;</a:t>
            </a:r>
            <a:endParaRPr kumimoji="0" lang="en-US" sz="2700" b="0" i="0" u="none" strike="noStrike" kern="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4805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23352"/>
            <a:ext cx="7704000" cy="572700"/>
          </a:xfrm>
        </p:spPr>
        <p:txBody>
          <a:bodyPr anchor="ctr"/>
          <a:lstStyle/>
          <a:p>
            <a:r>
              <a:rPr lang="en-US" dirty="0">
                <a:solidFill>
                  <a:schemeClr val="bg1"/>
                </a:solidFill>
              </a:rPr>
              <a:t>Input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https://hytop.onrender.com/e/html-input-example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66841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67934"/>
            <a:ext cx="7704000" cy="572700"/>
          </a:xfrm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Nesting Activity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32004-B2DC-3281-26E7-85182B26A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97" y="866782"/>
            <a:ext cx="3439071" cy="4108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DD76F-7397-8EE1-5233-1D2D41E41DF0}"/>
              </a:ext>
            </a:extLst>
          </p:cNvPr>
          <p:cNvSpPr txBox="1"/>
          <p:nvPr/>
        </p:nvSpPr>
        <p:spPr>
          <a:xfrm>
            <a:off x="4082716" y="1018673"/>
            <a:ext cx="3233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solidFill>
                  <a:schemeClr val="bg1"/>
                </a:solidFill>
              </a:rPr>
              <a:t>Things containing things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9EE572-06D7-5298-AB23-D8DE906477ED}"/>
              </a:ext>
            </a:extLst>
          </p:cNvPr>
          <p:cNvSpPr/>
          <p:nvPr/>
        </p:nvSpPr>
        <p:spPr>
          <a:xfrm>
            <a:off x="3970422" y="1507958"/>
            <a:ext cx="4981072" cy="33848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Director" pitchFamily="2" charset="0"/>
              </a:rPr>
              <a:t>   &lt;county </a:t>
            </a:r>
            <a: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ea typeface="Director" pitchFamily="2" charset="0"/>
              </a:rPr>
              <a:t>name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Director" pitchFamily="2" charset="0"/>
              </a:rPr>
              <a:t>=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Director" pitchFamily="2" charset="0"/>
              </a:rPr>
              <a:t>"Cuyahoga"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Director" pitchFamily="2" charset="0"/>
              </a:rPr>
              <a:t>&gt;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ea typeface="Director" pitchFamily="2" charset="0"/>
            </a:endParaRP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ea typeface="Director" pitchFamily="2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Director" pitchFamily="2" charset="0"/>
              </a:rPr>
              <a:t>   &lt;/county&gt;</a:t>
            </a:r>
          </a:p>
        </p:txBody>
      </p:sp>
    </p:spTree>
    <p:extLst>
      <p:ext uri="{BB962C8B-B14F-4D97-AF65-F5344CB8AC3E}">
        <p14:creationId xmlns:p14="http://schemas.microsoft.com/office/powerpoint/2010/main" val="1345208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Tables</a:t>
            </a:r>
          </a:p>
        </p:txBody>
      </p:sp>
      <p:pic>
        <p:nvPicPr>
          <p:cNvPr id="1026" name="Picture 2" descr="Image result for several table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481"/>
          <a:stretch/>
        </p:blipFill>
        <p:spPr bwMode="auto">
          <a:xfrm>
            <a:off x="3886200" y="-9023"/>
            <a:ext cx="5257800" cy="5152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23540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US" sz="1800" i="1" dirty="0"/>
              <a:t>What type of data could be displayed in a table?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09" y="1985674"/>
            <a:ext cx="7134250" cy="16053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3827" y="3925166"/>
            <a:ext cx="5396345" cy="714042"/>
          </a:xfrm>
          <a:prstGeom prst="rect">
            <a:avLst/>
          </a:prstGeom>
          <a:noFill/>
        </p:spPr>
        <p:txBody>
          <a:bodyPr wrap="square" lIns="137160" tIns="109728" rIns="137160" bIns="109728" rtlCol="0">
            <a:spAutoFit/>
          </a:bodyPr>
          <a:lstStyle/>
          <a:p>
            <a:pPr marL="42862" algn="ctr">
              <a:spcAft>
                <a:spcPts val="900"/>
              </a:spcAft>
              <a:buClr>
                <a:srgbClr val="98989A"/>
              </a:buClr>
            </a:pPr>
            <a:r>
              <a:rPr lang="en-US" sz="3200" b="1" dirty="0">
                <a:solidFill>
                  <a:schemeClr val="tx1"/>
                </a:solidFill>
                <a:latin typeface="Miriam Libre" panose="00000500000000000000" pitchFamily="2" charset="-79"/>
                <a:cs typeface="Miriam Libre" panose="00000500000000000000" pitchFamily="2" charset="-79"/>
              </a:rPr>
              <a:t>Information about birds</a:t>
            </a:r>
          </a:p>
        </p:txBody>
      </p:sp>
    </p:spTree>
    <p:extLst>
      <p:ext uri="{BB962C8B-B14F-4D97-AF65-F5344CB8AC3E}">
        <p14:creationId xmlns:p14="http://schemas.microsoft.com/office/powerpoint/2010/main" val="349241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2863" indent="0">
              <a:buNone/>
            </a:pPr>
            <a:r>
              <a:rPr lang="en-US" i="1" dirty="0"/>
              <a:t>HTML Tables consist of several nested elements:</a:t>
            </a:r>
          </a:p>
          <a:p>
            <a:pPr marL="42863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table</a:t>
            </a:r>
            <a:r>
              <a:rPr lang="en-US" sz="1600" dirty="0"/>
              <a:t>: the primary element in a table, contains all other elements</a:t>
            </a:r>
            <a:endParaRPr lang="en-US" dirty="0"/>
          </a:p>
          <a:p>
            <a:pPr marL="42863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</a:t>
            </a:r>
            <a:r>
              <a:rPr lang="en-US" sz="1600" dirty="0"/>
              <a:t>: a </a:t>
            </a:r>
            <a:r>
              <a:rPr lang="en-US" sz="1600" i="1" dirty="0"/>
              <a:t>row</a:t>
            </a:r>
            <a:r>
              <a:rPr lang="en-US" sz="1600" dirty="0"/>
              <a:t> in the table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400" b="1" dirty="0" err="1">
                <a:solidFill>
                  <a:srgbClr val="FF8300"/>
                </a:solidFill>
                <a:latin typeface="Consolas" panose="020B0609020204030204" pitchFamily="49" charset="0"/>
              </a:rPr>
              <a:t>th</a:t>
            </a:r>
            <a:r>
              <a:rPr lang="en-US" sz="1600" dirty="0"/>
              <a:t>: a </a:t>
            </a:r>
            <a:r>
              <a:rPr lang="en-US" sz="1600" i="1" dirty="0"/>
              <a:t>header cell</a:t>
            </a:r>
            <a:r>
              <a:rPr lang="en-US" sz="1600" dirty="0"/>
              <a:t> in the table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42863" indent="0">
              <a:buNone/>
            </a:pPr>
            <a:r>
              <a:rPr lang="en-US" sz="2400" b="1" dirty="0">
                <a:solidFill>
                  <a:srgbClr val="E95EBE"/>
                </a:solidFill>
                <a:latin typeface="Consolas" panose="020B0609020204030204" pitchFamily="49" charset="0"/>
              </a:rPr>
              <a:t>td</a:t>
            </a:r>
            <a:r>
              <a:rPr lang="en-US" sz="1600" dirty="0"/>
              <a:t>: a </a:t>
            </a:r>
            <a:r>
              <a:rPr lang="en-US" sz="1600" i="1" dirty="0"/>
              <a:t>normal cell</a:t>
            </a:r>
            <a:r>
              <a:rPr lang="en-US" sz="1600" dirty="0"/>
              <a:t> in the table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97C71E-A23A-42B9-9137-B0C6F092A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072" y="3219244"/>
            <a:ext cx="6151855" cy="13843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2865F2E-D2A2-4655-9BD6-029692C741FB}"/>
              </a:ext>
            </a:extLst>
          </p:cNvPr>
          <p:cNvSpPr/>
          <p:nvPr/>
        </p:nvSpPr>
        <p:spPr bwMode="auto">
          <a:xfrm>
            <a:off x="1392381" y="3282088"/>
            <a:ext cx="6255545" cy="1269129"/>
          </a:xfrm>
          <a:prstGeom prst="rect">
            <a:avLst/>
          </a:prstGeom>
          <a:noFill/>
          <a:ln w="50800">
            <a:solidFill>
              <a:schemeClr val="accent2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099D6C-6567-4C58-BA2F-CD078BC47DA5}"/>
              </a:ext>
            </a:extLst>
          </p:cNvPr>
          <p:cNvSpPr/>
          <p:nvPr/>
        </p:nvSpPr>
        <p:spPr bwMode="auto">
          <a:xfrm>
            <a:off x="1392380" y="3532909"/>
            <a:ext cx="6255545" cy="256309"/>
          </a:xfrm>
          <a:prstGeom prst="rect">
            <a:avLst/>
          </a:prstGeom>
          <a:noFill/>
          <a:ln w="50800">
            <a:solidFill>
              <a:schemeClr val="accent1">
                <a:lumMod val="75000"/>
              </a:schemeClr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5A7812-F97B-4EC5-BB1A-32ADEDE81F25}"/>
              </a:ext>
            </a:extLst>
          </p:cNvPr>
          <p:cNvSpPr/>
          <p:nvPr/>
        </p:nvSpPr>
        <p:spPr bwMode="auto">
          <a:xfrm>
            <a:off x="1392379" y="3276600"/>
            <a:ext cx="1565566" cy="256309"/>
          </a:xfrm>
          <a:prstGeom prst="rect">
            <a:avLst/>
          </a:prstGeom>
          <a:noFill/>
          <a:ln w="50800">
            <a:solidFill>
              <a:srgbClr val="FFC000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6B92A4-996F-42D6-BE6F-29427DA51581}"/>
              </a:ext>
            </a:extLst>
          </p:cNvPr>
          <p:cNvSpPr/>
          <p:nvPr/>
        </p:nvSpPr>
        <p:spPr bwMode="auto">
          <a:xfrm>
            <a:off x="6026465" y="3789218"/>
            <a:ext cx="398925" cy="243997"/>
          </a:xfrm>
          <a:prstGeom prst="rect">
            <a:avLst/>
          </a:prstGeom>
          <a:noFill/>
          <a:ln w="50800">
            <a:solidFill>
              <a:srgbClr val="E95EBE"/>
            </a:solidFill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109728" rIns="137160" bIns="1097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9935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How Bird Classification Works - Birding World">
            <a:extLst>
              <a:ext uri="{FF2B5EF4-FFF2-40B4-BE49-F238E27FC236}">
                <a16:creationId xmlns:a16="http://schemas.microsoft.com/office/drawing/2014/main" id="{4490CBB0-64B6-1C50-9A68-2EC00EC74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064707"/>
            <a:ext cx="1842870" cy="115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ow Bird Classification Works - Birding World">
            <a:extLst>
              <a:ext uri="{FF2B5EF4-FFF2-40B4-BE49-F238E27FC236}">
                <a16:creationId xmlns:a16="http://schemas.microsoft.com/office/drawing/2014/main" id="{160B2BAB-59FD-C1E1-9401-459AE95AA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670" y="2064707"/>
            <a:ext cx="1842870" cy="115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68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188715"/>
            <a:ext cx="7704000" cy="58021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Table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475"/>
            <a:ext cx="9144000" cy="34164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https://hytop.onrender.com/e/html-table-example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35296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border</a:t>
            </a:r>
            <a:r>
              <a:rPr lang="en-US" dirty="0"/>
              <a:t> Attribute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70941" y="1351850"/>
            <a:ext cx="8053513" cy="1342859"/>
          </a:xfrm>
        </p:spPr>
        <p:txBody>
          <a:bodyPr>
            <a:normAutofit/>
          </a:bodyPr>
          <a:lstStyle/>
          <a:p>
            <a:pPr marL="42863" indent="0" algn="ctr">
              <a:buNone/>
            </a:pPr>
            <a:r>
              <a:rPr lang="en-US" sz="4000" dirty="0">
                <a:solidFill>
                  <a:srgbClr val="800000"/>
                </a:solidFill>
                <a:latin typeface="Consolas" panose="020B0609020204030204" pitchFamily="49" charset="0"/>
              </a:rPr>
              <a:t>&lt;table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4000" dirty="0">
                <a:solidFill>
                  <a:srgbClr val="CD3131"/>
                </a:solidFill>
                <a:latin typeface="Consolas" panose="020B0609020204030204" pitchFamily="49" charset="0"/>
              </a:rPr>
              <a:t>border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"1"</a:t>
            </a:r>
            <a:r>
              <a:rPr lang="en-US" sz="40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4000" dirty="0">
              <a:solidFill>
                <a:srgbClr val="800000"/>
              </a:solidFill>
            </a:endParaRPr>
          </a:p>
          <a:p>
            <a:pPr marL="152400" indent="0" algn="ctr">
              <a:buNone/>
            </a:pPr>
            <a:endParaRPr lang="en-US" sz="1050" dirty="0"/>
          </a:p>
          <a:p>
            <a:pPr marL="152400" indent="0" algn="ctr">
              <a:buNone/>
            </a:pPr>
            <a:r>
              <a:rPr lang="en-US" sz="2400" dirty="0"/>
              <a:t>Set the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border</a:t>
            </a:r>
            <a:r>
              <a:rPr lang="en-US" sz="2400" dirty="0"/>
              <a:t> attribute to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2400" dirty="0"/>
              <a:t> to add a border</a:t>
            </a:r>
            <a:endParaRPr lang="en-US" sz="2400" dirty="0">
              <a:solidFill>
                <a:srgbClr val="8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1" y="2694709"/>
            <a:ext cx="8002117" cy="189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2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 err="1">
                <a:solidFill>
                  <a:schemeClr val="bg1"/>
                </a:solidFill>
              </a:rPr>
              <a:t>IFrames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Image result for fram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0"/>
            <a:ext cx="5257800" cy="525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137155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sz="3000" dirty="0">
                <a:solidFill>
                  <a:srgbClr val="54C8E8">
                    <a:lumMod val="50000"/>
                  </a:srgbClr>
                </a:solidFill>
                <a:latin typeface="Consolas" panose="020B0609020204030204" pitchFamily="49" charset="0"/>
              </a:rPr>
              <a:t>&lt;</a:t>
            </a:r>
            <a:r>
              <a:rPr lang="en-US" sz="3000" dirty="0" err="1">
                <a:solidFill>
                  <a:srgbClr val="54C8E8">
                    <a:lumMod val="50000"/>
                  </a:srgbClr>
                </a:solidFill>
                <a:latin typeface="Consolas" panose="020B0609020204030204" pitchFamily="49" charset="0"/>
              </a:rPr>
              <a:t>iframe</a:t>
            </a:r>
            <a:r>
              <a:rPr lang="en-US" sz="3000" dirty="0">
                <a:solidFill>
                  <a:srgbClr val="54C8E8">
                    <a:lumMod val="50000"/>
                  </a:srgbClr>
                </a:solidFill>
                <a:latin typeface="Consolas" panose="020B0609020204030204" pitchFamily="49" charset="0"/>
              </a:rPr>
              <a:t>&gt;</a:t>
            </a:r>
            <a:r>
              <a:rPr lang="en-US" dirty="0"/>
              <a:t>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91836" y="1351849"/>
            <a:ext cx="8153400" cy="3346625"/>
          </a:xfrm>
        </p:spPr>
        <p:txBody>
          <a:bodyPr>
            <a:normAutofit/>
          </a:bodyPr>
          <a:lstStyle/>
          <a:p>
            <a:pPr marL="15240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Inline Frame</a:t>
            </a:r>
            <a:r>
              <a:rPr lang="en-US" sz="1800" dirty="0"/>
              <a:t> element represents a nested browsing context, embedding another HTML page into the current one</a:t>
            </a:r>
          </a:p>
          <a:p>
            <a:endParaRPr lang="en-US" sz="1800" dirty="0"/>
          </a:p>
          <a:p>
            <a:pPr marL="152400" indent="0">
              <a:buNone/>
            </a:pPr>
            <a:r>
              <a:rPr lang="en-US" sz="1800" dirty="0"/>
              <a:t>Basically, you can display other webpages </a:t>
            </a:r>
            <a:r>
              <a:rPr lang="en-US" sz="1800" i="1" dirty="0"/>
              <a:t>within</a:t>
            </a:r>
            <a:r>
              <a:rPr lang="en-US" sz="1800" dirty="0"/>
              <a:t> your webpage</a:t>
            </a:r>
          </a:p>
          <a:p>
            <a:endParaRPr lang="en-US" sz="1800" i="1" dirty="0"/>
          </a:p>
          <a:p>
            <a:pPr marL="152400" indent="0">
              <a:buNone/>
            </a:pPr>
            <a:r>
              <a:rPr lang="en-US" sz="1800" dirty="0" err="1"/>
              <a:t>IFrames</a:t>
            </a:r>
            <a:r>
              <a:rPr lang="en-US" sz="1800" dirty="0"/>
              <a:t> use the </a:t>
            </a:r>
            <a:r>
              <a:rPr lang="en-US" sz="2400" b="1" dirty="0" err="1">
                <a:solidFill>
                  <a:schemeClr val="accent4"/>
                </a:solidFill>
                <a:latin typeface="Consolas" panose="020B0609020204030204" pitchFamily="49" charset="0"/>
              </a:rPr>
              <a:t>src</a:t>
            </a:r>
            <a:r>
              <a:rPr lang="en-US" sz="1800" dirty="0"/>
              <a:t> element to determine which webpage to display</a:t>
            </a:r>
          </a:p>
          <a:p>
            <a:pPr marL="609600" lvl="1" indent="0">
              <a:buNone/>
            </a:pPr>
            <a:r>
              <a:rPr lang="en-US" sz="1800" dirty="0"/>
              <a:t>There are also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height</a:t>
            </a:r>
            <a:r>
              <a:rPr lang="en-US" sz="1800" dirty="0"/>
              <a:t> and </a:t>
            </a:r>
            <a:r>
              <a:rPr lang="en-US" sz="2400" b="1" dirty="0">
                <a:solidFill>
                  <a:schemeClr val="accent4"/>
                </a:solidFill>
                <a:latin typeface="Consolas" panose="020B0609020204030204" pitchFamily="49" charset="0"/>
              </a:rPr>
              <a:t>width</a:t>
            </a:r>
            <a:r>
              <a:rPr lang="en-US" sz="1800" dirty="0"/>
              <a:t> attributes</a:t>
            </a:r>
          </a:p>
          <a:p>
            <a:pPr marL="609600" lvl="1" indent="0">
              <a:buNone/>
            </a:pPr>
            <a:endParaRPr lang="en-US" sz="1800" dirty="0"/>
          </a:p>
          <a:p>
            <a:endParaRPr lang="en-US" dirty="0"/>
          </a:p>
          <a:p>
            <a:pPr marL="42863" indent="0" algn="ctr">
              <a:buNone/>
            </a:pP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&lt;iframe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"https://www.google.com"</a:t>
            </a:r>
            <a:r>
              <a:rPr lang="en-US" sz="2400" dirty="0">
                <a:solidFill>
                  <a:srgbClr val="800000"/>
                </a:solidFill>
                <a:latin typeface="Consolas" panose="020B0609020204030204" pitchFamily="49" charset="0"/>
              </a:rPr>
              <a:t>&gt;&lt;/iframe&gt;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154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436" y="174861"/>
            <a:ext cx="7704000" cy="572700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IFrame</a:t>
            </a:r>
            <a:r>
              <a:rPr lang="en-US" dirty="0">
                <a:solidFill>
                  <a:schemeClr val="bg1"/>
                </a:solidFill>
              </a:rPr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5400"/>
            <a:ext cx="9144000" cy="572700"/>
          </a:xfrm>
        </p:spPr>
        <p:txBody>
          <a:bodyPr anchor="ctr">
            <a:noAutofit/>
          </a:bodyPr>
          <a:lstStyle/>
          <a:p>
            <a:pPr marL="42863" indent="0" algn="ctr">
              <a:buNone/>
            </a:pPr>
            <a:r>
              <a:rPr lang="en-US" sz="2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https://hytop.onrender.com/e/html-iframe-example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1106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4"/>
          <p:cNvSpPr txBox="1">
            <a:spLocks noGrp="1"/>
          </p:cNvSpPr>
          <p:nvPr>
            <p:ph type="subTitle" idx="1"/>
          </p:nvPr>
        </p:nvSpPr>
        <p:spPr>
          <a:xfrm>
            <a:off x="720000" y="1824225"/>
            <a:ext cx="56502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1504" name="Google Shape;1504;p54"/>
          <p:cNvSpPr txBox="1">
            <a:spLocks noGrp="1"/>
          </p:cNvSpPr>
          <p:nvPr>
            <p:ph type="ctrTitle"/>
          </p:nvPr>
        </p:nvSpPr>
        <p:spPr>
          <a:xfrm>
            <a:off x="720000" y="1049325"/>
            <a:ext cx="5650200" cy="7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42" name="Google Shape;1542;p54"/>
          <p:cNvSpPr/>
          <p:nvPr/>
        </p:nvSpPr>
        <p:spPr>
          <a:xfrm>
            <a:off x="57005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4"/>
          <p:cNvSpPr/>
          <p:nvPr/>
        </p:nvSpPr>
        <p:spPr>
          <a:xfrm>
            <a:off x="49015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4"/>
          <p:cNvSpPr/>
          <p:nvPr/>
        </p:nvSpPr>
        <p:spPr>
          <a:xfrm>
            <a:off x="1708675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54"/>
          <p:cNvSpPr/>
          <p:nvPr/>
        </p:nvSpPr>
        <p:spPr>
          <a:xfrm>
            <a:off x="1628775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54"/>
          <p:cNvSpPr/>
          <p:nvPr/>
        </p:nvSpPr>
        <p:spPr>
          <a:xfrm>
            <a:off x="2847300" y="37463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54"/>
          <p:cNvSpPr/>
          <p:nvPr/>
        </p:nvSpPr>
        <p:spPr>
          <a:xfrm>
            <a:off x="2767400" y="3665400"/>
            <a:ext cx="939600" cy="939600"/>
          </a:xfrm>
          <a:prstGeom prst="snip1Rect">
            <a:avLst>
              <a:gd name="adj" fmla="val 11329"/>
            </a:avLst>
          </a:prstGeom>
          <a:solidFill>
            <a:schemeClr val="l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4C185-2733-82A6-CD26-B6BB946D14B6}"/>
              </a:ext>
            </a:extLst>
          </p:cNvPr>
          <p:cNvSpPr/>
          <p:nvPr/>
        </p:nvSpPr>
        <p:spPr>
          <a:xfrm>
            <a:off x="4211782" y="3837709"/>
            <a:ext cx="4253345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Grid Interface &amp; Sticky Notes Company Profile by Slidesgo">
  <a:themeElements>
    <a:clrScheme name="Simple Light">
      <a:dk1>
        <a:srgbClr val="000000"/>
      </a:dk1>
      <a:lt1>
        <a:srgbClr val="FFFFFF"/>
      </a:lt1>
      <a:dk2>
        <a:srgbClr val="AA2FE6"/>
      </a:dk2>
      <a:lt2>
        <a:srgbClr val="FF7ACD"/>
      </a:lt2>
      <a:accent1>
        <a:srgbClr val="FFA27A"/>
      </a:accent1>
      <a:accent2>
        <a:srgbClr val="FFDF6D"/>
      </a:accent2>
      <a:accent3>
        <a:srgbClr val="8FFFC1"/>
      </a:accent3>
      <a:accent4>
        <a:srgbClr val="24069D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863</Words>
  <Application>Microsoft Office PowerPoint</Application>
  <PresentationFormat>On-screen Show (16:9)</PresentationFormat>
  <Paragraphs>133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Roboto Condensed Light</vt:lpstr>
      <vt:lpstr>Consolas</vt:lpstr>
      <vt:lpstr>Krona One</vt:lpstr>
      <vt:lpstr>Arial</vt:lpstr>
      <vt:lpstr>Segoe UI</vt:lpstr>
      <vt:lpstr>Miriam Libre</vt:lpstr>
      <vt:lpstr>Wingdings</vt:lpstr>
      <vt:lpstr>Blue Grid Interface &amp; Sticky Notes Company Profile by Slidesgo</vt:lpstr>
      <vt:lpstr>Tables &amp; IFrames</vt:lpstr>
      <vt:lpstr>The List Elements</vt:lpstr>
      <vt:lpstr>The List Elements</vt:lpstr>
      <vt:lpstr>List Example</vt:lpstr>
      <vt:lpstr>The &lt;input&gt; Element</vt:lpstr>
      <vt:lpstr>Special Inputs</vt:lpstr>
      <vt:lpstr>Input Examples</vt:lpstr>
      <vt:lpstr>Nesting Activity</vt:lpstr>
      <vt:lpstr>Tables</vt:lpstr>
      <vt:lpstr>HTML Tables</vt:lpstr>
      <vt:lpstr>Table Elements</vt:lpstr>
      <vt:lpstr>Table Example</vt:lpstr>
      <vt:lpstr>The border Attribute</vt:lpstr>
      <vt:lpstr>IFrames</vt:lpstr>
      <vt:lpstr>The &lt;iframe&gt; Element</vt:lpstr>
      <vt:lpstr>IFrame Example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Hello HTML!</dc:title>
  <cp:lastModifiedBy>Joseph Maxwell</cp:lastModifiedBy>
  <cp:revision>12</cp:revision>
  <dcterms:modified xsi:type="dcterms:W3CDTF">2026-08-27T16:29:16Z</dcterms:modified>
</cp:coreProperties>
</file>