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6" r:id="rId1"/>
  </p:sldMasterIdLst>
  <p:notesMasterIdLst>
    <p:notesMasterId r:id="rId19"/>
  </p:notesMasterIdLst>
  <p:sldIdLst>
    <p:sldId id="256" r:id="rId2"/>
    <p:sldId id="302" r:id="rId3"/>
    <p:sldId id="318" r:id="rId4"/>
    <p:sldId id="314" r:id="rId5"/>
    <p:sldId id="315" r:id="rId6"/>
    <p:sldId id="316" r:id="rId7"/>
    <p:sldId id="317" r:id="rId8"/>
    <p:sldId id="313" r:id="rId9"/>
    <p:sldId id="301" r:id="rId10"/>
    <p:sldId id="306" r:id="rId11"/>
    <p:sldId id="307" r:id="rId12"/>
    <p:sldId id="308" r:id="rId13"/>
    <p:sldId id="309" r:id="rId14"/>
    <p:sldId id="310" r:id="rId15"/>
    <p:sldId id="312" r:id="rId16"/>
    <p:sldId id="311" r:id="rId17"/>
    <p:sldId id="279" r:id="rId18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20"/>
      <p:bold r:id="rId21"/>
      <p:italic r:id="rId22"/>
      <p:boldItalic r:id="rId23"/>
    </p:embeddedFont>
    <p:embeddedFont>
      <p:font typeface="Krona One" panose="020B0604020202020204" charset="0"/>
      <p:regular r:id="rId24"/>
    </p:embeddedFont>
    <p:embeddedFont>
      <p:font typeface="Miriam Libre" panose="00000500000000000000" pitchFamily="2" charset="-79"/>
      <p:regular r:id="rId25"/>
      <p:bold r:id="rId26"/>
    </p:embeddedFont>
    <p:embeddedFont>
      <p:font typeface="Roboto Condensed Light" panose="02000000000000000000" pitchFamily="2" charset="0"/>
      <p:regular r:id="rId27"/>
      <p:italic r:id="rId28"/>
    </p:embeddedFont>
    <p:embeddedFont>
      <p:font typeface="Segoe UI" panose="020B0502040204020203" pitchFamily="34" charset="0"/>
      <p:regular r:id="rId29"/>
      <p:bold r:id="rId30"/>
      <p:italic r:id="rId31"/>
      <p:bold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9AA0A6"/>
          </p15:clr>
        </p15:guide>
        <p15:guide id="2" pos="2880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64A8121-69E1-4132-A0E2-CE15BAFBFB63}">
  <a:tblStyle styleId="{864A8121-69E1-4132-A0E2-CE15BAFBFB6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1598" autoAdjust="0"/>
  </p:normalViewPr>
  <p:slideViewPr>
    <p:cSldViewPr snapToGrid="0">
      <p:cViewPr varScale="1">
        <p:scale>
          <a:sx n="119" d="100"/>
          <a:sy n="119" d="100"/>
        </p:scale>
        <p:origin x="1374" y="10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font" Target="fonts/font1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1" name="Google Shape;441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850">
              <a:solidFill>
                <a:srgbClr val="5F7D9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The bullet points on this</a:t>
            </a:r>
            <a:r>
              <a:rPr lang="en-US" baseline="0" dirty="0"/>
              <a:t> slide are an unordered list!</a:t>
            </a:r>
          </a:p>
          <a:p>
            <a:pPr marL="171450" indent="-171450">
              <a:buFontTx/>
              <a:buChar char="-"/>
            </a:pPr>
            <a:r>
              <a:rPr lang="en-US" baseline="0" dirty="0"/>
              <a:t>An ordered list has numbers – for example, the MCU movies in release order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DEC8F7F9-57EC-49CF-9FCD-2B781E4B449F}" type="slidenum">
              <a:rPr kumimoji="0" lang="en-US" sz="14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</a:t>
            </a:fld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428028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The bullet points on this</a:t>
            </a:r>
            <a:r>
              <a:rPr lang="en-US" baseline="0" dirty="0"/>
              <a:t> slide are an unordered list!</a:t>
            </a:r>
          </a:p>
          <a:p>
            <a:pPr marL="171450" indent="-171450">
              <a:buFontTx/>
              <a:buChar char="-"/>
            </a:pPr>
            <a:r>
              <a:rPr lang="en-US" baseline="0" dirty="0"/>
              <a:t>An ordered list has numbers – for example, the MCU movies in release order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DEC8F7F9-57EC-49CF-9FCD-2B781E4B449F}" type="slidenum">
              <a:rPr kumimoji="0" lang="en-US" sz="14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3</a:t>
            </a:fld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021408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Visit the </a:t>
            </a:r>
            <a:r>
              <a:rPr lang="en-US" dirty="0" err="1"/>
              <a:t>Repl</a:t>
            </a:r>
            <a:r>
              <a:rPr lang="en-US" dirty="0"/>
              <a:t> to show lists in action.</a:t>
            </a:r>
          </a:p>
          <a:p>
            <a:pPr marL="171450" indent="-171450">
              <a:buFontTx/>
              <a:buChar char="-"/>
            </a:pPr>
            <a:r>
              <a:rPr lang="en-US" dirty="0"/>
              <a:t>Here we really want to emphasize the hierarchical structure of HTML</a:t>
            </a:r>
          </a:p>
          <a:p>
            <a:pPr marL="171450" indent="-171450">
              <a:buFontTx/>
              <a:buChar char="-"/>
            </a:pPr>
            <a:r>
              <a:rPr lang="en-US" dirty="0"/>
              <a:t>Also show the difference between </a:t>
            </a:r>
            <a:r>
              <a:rPr lang="en-US" dirty="0" err="1"/>
              <a:t>ol</a:t>
            </a:r>
            <a:r>
              <a:rPr lang="en-US" dirty="0"/>
              <a:t> and ul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DEC8F7F9-57EC-49CF-9FCD-2B781E4B449F}" type="slidenum">
              <a:rPr kumimoji="0" lang="en-US" sz="14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4</a:t>
            </a:fld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152592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Ask the students to</a:t>
            </a:r>
            <a:r>
              <a:rPr lang="en-US" baseline="0" dirty="0"/>
              <a:t> guess how each of these input types might appear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DEC8F7F9-57EC-49CF-9FCD-2B781E4B449F}" type="slidenum">
              <a:rPr kumimoji="0" lang="en-US" sz="14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5</a:t>
            </a:fld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460893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DEC8F7F9-57EC-49CF-9FCD-2B781E4B449F}" type="slidenum">
              <a:rPr kumimoji="0" lang="en-US" sz="14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6</a:t>
            </a:fld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042820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Visit the </a:t>
            </a:r>
            <a:r>
              <a:rPr lang="en-US" dirty="0" err="1"/>
              <a:t>Repl</a:t>
            </a:r>
            <a:r>
              <a:rPr lang="en-US" dirty="0"/>
              <a:t> to show inputs </a:t>
            </a:r>
            <a:r>
              <a:rPr lang="en-US"/>
              <a:t>in action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DEC8F7F9-57EC-49CF-9FCD-2B781E4B449F}" type="slidenum">
              <a:rPr kumimoji="0" lang="en-US" sz="14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7</a:t>
            </a:fld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430044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nesting as a concept using geography.</a:t>
            </a:r>
          </a:p>
          <a:p>
            <a:endParaRPr lang="en-US" dirty="0"/>
          </a:p>
          <a:p>
            <a:r>
              <a:rPr lang="en-US" dirty="0"/>
              <a:t>Start</a:t>
            </a:r>
            <a:r>
              <a:rPr lang="en-US" baseline="0" dirty="0"/>
              <a:t> by writing the following on the whiteboard (leave a lot of space around the tags):</a:t>
            </a:r>
          </a:p>
          <a:p>
            <a:endParaRPr lang="en-US" baseline="0" dirty="0"/>
          </a:p>
          <a:p>
            <a:r>
              <a:rPr lang="en-US" b="1" baseline="0" dirty="0"/>
              <a:t>&lt;county name=“Cuyahoga”&gt;</a:t>
            </a:r>
          </a:p>
          <a:p>
            <a:endParaRPr lang="en-US" b="1" baseline="0" dirty="0"/>
          </a:p>
          <a:p>
            <a:r>
              <a:rPr lang="en-US" b="1" baseline="0" dirty="0"/>
              <a:t>&lt;/county&gt;</a:t>
            </a:r>
          </a:p>
          <a:p>
            <a:endParaRPr lang="en-US" baseline="0" dirty="0"/>
          </a:p>
          <a:p>
            <a:r>
              <a:rPr lang="en-US" b="0" baseline="0" dirty="0"/>
              <a:t>Ask what goes within a county – a city! Add that to the code:</a:t>
            </a:r>
          </a:p>
          <a:p>
            <a:endParaRPr lang="en-US" b="0" baseline="0" dirty="0"/>
          </a:p>
          <a:p>
            <a:r>
              <a:rPr lang="en-US" b="1" baseline="0" dirty="0"/>
              <a:t>&lt;county name=“Cuyahoga”&gt;</a:t>
            </a:r>
          </a:p>
          <a:p>
            <a:r>
              <a:rPr lang="en-US" b="1" baseline="0" dirty="0"/>
              <a:t>    &lt;city name=“Westlake”&gt;&lt;/city&gt;</a:t>
            </a:r>
          </a:p>
          <a:p>
            <a:r>
              <a:rPr lang="en-US" b="1" baseline="0" dirty="0"/>
              <a:t>&lt;/county&gt;</a:t>
            </a:r>
          </a:p>
          <a:p>
            <a:endParaRPr lang="en-US" b="1" baseline="0" dirty="0"/>
          </a:p>
          <a:p>
            <a:r>
              <a:rPr lang="en-US" b="0" baseline="0" dirty="0"/>
              <a:t>Ask what goes around a county – a state! Add that to the code:</a:t>
            </a:r>
          </a:p>
          <a:p>
            <a:endParaRPr lang="en-US" b="0" baseline="0" dirty="0"/>
          </a:p>
          <a:p>
            <a:r>
              <a:rPr lang="en-US" b="1" baseline="0" dirty="0"/>
              <a:t>&lt;state name=“Ohio”&gt;</a:t>
            </a:r>
          </a:p>
          <a:p>
            <a:r>
              <a:rPr lang="en-US" b="1" baseline="0" dirty="0"/>
              <a:t>    &lt;county name=“Cuyahoga”&gt;</a:t>
            </a:r>
          </a:p>
          <a:p>
            <a:r>
              <a:rPr lang="en-US" b="1" baseline="0" dirty="0"/>
              <a:t>        &lt;city name=“Westlake”&gt;&lt;/city&gt;</a:t>
            </a:r>
          </a:p>
          <a:p>
            <a:r>
              <a:rPr lang="en-US" b="1" baseline="0" dirty="0"/>
              <a:t>    &lt;/county&gt;</a:t>
            </a:r>
          </a:p>
          <a:p>
            <a:r>
              <a:rPr lang="en-US" b="1" baseline="0" dirty="0"/>
              <a:t>&lt;/state&gt;</a:t>
            </a:r>
            <a:endParaRPr lang="en-US" b="0" baseline="0" dirty="0"/>
          </a:p>
          <a:p>
            <a:endParaRPr lang="en-US" b="0" baseline="0" dirty="0"/>
          </a:p>
          <a:p>
            <a:r>
              <a:rPr lang="en-US" b="0" baseline="0" dirty="0"/>
              <a:t>Use this concept to explain nesting. Explain parent/child relationships. The next slide has an example using lists.</a:t>
            </a:r>
            <a:endParaRPr lang="en-US" b="1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DEC8F7F9-57EC-49CF-9FCD-2B781E4B449F}" type="slidenum">
              <a:rPr kumimoji="0" lang="en-US" sz="14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8</a:t>
            </a:fld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420233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students</a:t>
            </a:r>
            <a:r>
              <a:rPr lang="en-US" baseline="0" dirty="0"/>
              <a:t> for examples of tabular data. Lots of times there are things like stats (for sports, </a:t>
            </a:r>
            <a:r>
              <a:rPr lang="en-US" baseline="0" dirty="0" err="1"/>
              <a:t>etc</a:t>
            </a:r>
            <a:r>
              <a:rPr lang="en-US" baseline="0" dirty="0"/>
              <a:t>) or other information about people.</a:t>
            </a:r>
          </a:p>
          <a:p>
            <a:endParaRPr lang="en-US" baseline="0" dirty="0"/>
          </a:p>
          <a:p>
            <a:r>
              <a:rPr lang="en-US" baseline="0" dirty="0"/>
              <a:t>Show an example of this table, and ask the students what they think it is about.</a:t>
            </a:r>
          </a:p>
          <a:p>
            <a:endParaRPr lang="en-US" baseline="0" dirty="0"/>
          </a:p>
          <a:p>
            <a:r>
              <a:rPr lang="en-US" baseline="0" dirty="0"/>
              <a:t>It’s about birds.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C8F7F9-57EC-49CF-9FCD-2B781E4B449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7154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each</a:t>
            </a:r>
            <a:r>
              <a:rPr lang="en-US" baseline="0" dirty="0"/>
              <a:t> element that goes into a table. These will make more sense once we see the tables in action.</a:t>
            </a:r>
          </a:p>
          <a:p>
            <a:endParaRPr lang="en-US" baseline="0" dirty="0"/>
          </a:p>
          <a:p>
            <a:r>
              <a:rPr lang="en-US" baseline="0" dirty="0"/>
              <a:t>The Repl contains an actual full table in HTML.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C8F7F9-57EC-49CF-9FCD-2B781E4B449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6719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by forking the Repl project. E</a:t>
            </a:r>
            <a:r>
              <a:rPr lang="en-US" baseline="0" dirty="0"/>
              <a:t>mphasize the relationships between each table element. Ask students which elements are parents/children/</a:t>
            </a:r>
            <a:r>
              <a:rPr lang="en-US" baseline="0" dirty="0" err="1"/>
              <a:t>sibilings</a:t>
            </a:r>
            <a:r>
              <a:rPr lang="en-US" baseline="0" dirty="0"/>
              <a:t>/etc.</a:t>
            </a:r>
          </a:p>
          <a:p>
            <a:endParaRPr lang="en-US" baseline="0" dirty="0"/>
          </a:p>
          <a:p>
            <a:r>
              <a:rPr lang="en-US" baseline="0" dirty="0"/>
              <a:t>Additionally, show the </a:t>
            </a:r>
            <a:r>
              <a:rPr lang="en-US" b="1" baseline="0" dirty="0"/>
              <a:t>border</a:t>
            </a:r>
            <a:r>
              <a:rPr lang="en-US" b="0" baseline="0" dirty="0"/>
              <a:t> attribute – it starts as 0, so change it to 1 to see the border.</a:t>
            </a: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C8F7F9-57EC-49CF-9FCD-2B781E4B449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1605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iframes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C8F7F9-57EC-49CF-9FCD-2B781E4B449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1905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</a:t>
            </a:r>
            <a:r>
              <a:rPr lang="en-US" dirty="0" err="1"/>
              <a:t>Repl</a:t>
            </a:r>
            <a:r>
              <a:rPr lang="en-US" dirty="0"/>
              <a:t>,</a:t>
            </a:r>
            <a:r>
              <a:rPr lang="en-US" baseline="0" dirty="0"/>
              <a:t> emphasize the use of attributes. Add an attribute for width, change the height attribute. Also show embedding a YouTube video for fun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C8F7F9-57EC-49CF-9FCD-2B781E4B449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3945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0" name="Google Shape;1500;ge30e247bb5_0_429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1" name="Google Shape;1501;ge30e247bb5_0_429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561425" y="622625"/>
            <a:ext cx="8172600" cy="2912100"/>
          </a:xfrm>
          <a:prstGeom prst="rect">
            <a:avLst/>
          </a:prstGeom>
          <a:solidFill>
            <a:schemeClr val="accen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561425" y="3746300"/>
            <a:ext cx="4689900" cy="939600"/>
          </a:xfrm>
          <a:prstGeom prst="rect">
            <a:avLst/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485700" y="540000"/>
            <a:ext cx="8172600" cy="29121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485700" y="3663675"/>
            <a:ext cx="4689900" cy="9396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485700" y="539375"/>
            <a:ext cx="8172600" cy="275400"/>
          </a:xfrm>
          <a:prstGeom prst="rect">
            <a:avLst/>
          </a:prstGeom>
          <a:solidFill>
            <a:schemeClr val="dk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720000" y="628925"/>
            <a:ext cx="96300" cy="96300"/>
          </a:xfrm>
          <a:prstGeom prst="ellipse">
            <a:avLst/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905925" y="628925"/>
            <a:ext cx="96300" cy="96300"/>
          </a:xfrm>
          <a:prstGeom prst="ellipse">
            <a:avLst/>
          </a:prstGeom>
          <a:solidFill>
            <a:schemeClr val="accen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091850" y="628925"/>
            <a:ext cx="96300" cy="96300"/>
          </a:xfrm>
          <a:prstGeom prst="ellipse">
            <a:avLst/>
          </a:pr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ctrTitle"/>
          </p:nvPr>
        </p:nvSpPr>
        <p:spPr>
          <a:xfrm>
            <a:off x="720000" y="1138400"/>
            <a:ext cx="7704000" cy="200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3800" b="1">
                <a:latin typeface="Krona One"/>
                <a:ea typeface="Krona One"/>
                <a:cs typeface="Krona One"/>
                <a:sym typeface="Krona On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ubTitle" idx="1"/>
          </p:nvPr>
        </p:nvSpPr>
        <p:spPr>
          <a:xfrm>
            <a:off x="720000" y="3907725"/>
            <a:ext cx="4152600" cy="45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4"/>
          <p:cNvSpPr/>
          <p:nvPr/>
        </p:nvSpPr>
        <p:spPr>
          <a:xfrm>
            <a:off x="561425" y="461125"/>
            <a:ext cx="8172600" cy="691200"/>
          </a:xfrm>
          <a:prstGeom prst="rect">
            <a:avLst/>
          </a:pr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4"/>
          <p:cNvSpPr/>
          <p:nvPr/>
        </p:nvSpPr>
        <p:spPr>
          <a:xfrm>
            <a:off x="485700" y="378375"/>
            <a:ext cx="8172600" cy="6912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4"/>
          <p:cNvSpPr/>
          <p:nvPr/>
        </p:nvSpPr>
        <p:spPr>
          <a:xfrm>
            <a:off x="8306050" y="461125"/>
            <a:ext cx="236100" cy="236100"/>
          </a:xfrm>
          <a:prstGeom prst="mathMultiply">
            <a:avLst>
              <a:gd name="adj1" fmla="val 19282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4"/>
          <p:cNvSpPr/>
          <p:nvPr/>
        </p:nvSpPr>
        <p:spPr>
          <a:xfrm>
            <a:off x="561425" y="1356100"/>
            <a:ext cx="8172600" cy="3416400"/>
          </a:xfrm>
          <a:prstGeom prst="rect">
            <a:avLst/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4"/>
          <p:cNvSpPr/>
          <p:nvPr/>
        </p:nvSpPr>
        <p:spPr>
          <a:xfrm>
            <a:off x="485700" y="1273350"/>
            <a:ext cx="8172600" cy="34164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4"/>
          <p:cNvSpPr txBox="1">
            <a:spLocks noGrp="1"/>
          </p:cNvSpPr>
          <p:nvPr>
            <p:ph type="body" idx="1"/>
          </p:nvPr>
        </p:nvSpPr>
        <p:spPr>
          <a:xfrm>
            <a:off x="720000" y="1351850"/>
            <a:ext cx="7704000" cy="325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AutoNum type="arabicPeriod"/>
              <a:defRPr sz="1200"/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 sz="1200"/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 sz="1200"/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 sz="1200"/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 sz="1200"/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 sz="1200"/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 sz="1200"/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 sz="1200"/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lt1"/>
        </a:solidFill>
        <a:effectLst/>
      </p:bgPr>
    </p:bg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ITLE_1"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25"/>
          <p:cNvSpPr/>
          <p:nvPr/>
        </p:nvSpPr>
        <p:spPr>
          <a:xfrm>
            <a:off x="561425" y="622625"/>
            <a:ext cx="8172600" cy="2912100"/>
          </a:xfrm>
          <a:prstGeom prst="rect">
            <a:avLst/>
          </a:prstGeom>
          <a:solidFill>
            <a:schemeClr val="accen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7" name="Google Shape;387;p25"/>
          <p:cNvSpPr/>
          <p:nvPr/>
        </p:nvSpPr>
        <p:spPr>
          <a:xfrm>
            <a:off x="4044125" y="3746300"/>
            <a:ext cx="4689900" cy="939600"/>
          </a:xfrm>
          <a:prstGeom prst="rect">
            <a:avLst/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8" name="Google Shape;388;p25"/>
          <p:cNvSpPr/>
          <p:nvPr/>
        </p:nvSpPr>
        <p:spPr>
          <a:xfrm>
            <a:off x="485700" y="540000"/>
            <a:ext cx="8172600" cy="29121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9" name="Google Shape;389;p25"/>
          <p:cNvSpPr/>
          <p:nvPr/>
        </p:nvSpPr>
        <p:spPr>
          <a:xfrm>
            <a:off x="3968400" y="3663675"/>
            <a:ext cx="4689900" cy="9396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0" name="Google Shape;390;p25"/>
          <p:cNvSpPr/>
          <p:nvPr/>
        </p:nvSpPr>
        <p:spPr>
          <a:xfrm>
            <a:off x="485700" y="539375"/>
            <a:ext cx="8172600" cy="275400"/>
          </a:xfrm>
          <a:prstGeom prst="rect">
            <a:avLst/>
          </a:prstGeom>
          <a:solidFill>
            <a:schemeClr val="dk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1" name="Google Shape;391;p25"/>
          <p:cNvSpPr/>
          <p:nvPr/>
        </p:nvSpPr>
        <p:spPr>
          <a:xfrm>
            <a:off x="720000" y="628925"/>
            <a:ext cx="96300" cy="96300"/>
          </a:xfrm>
          <a:prstGeom prst="ellipse">
            <a:avLst/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2" name="Google Shape;392;p25"/>
          <p:cNvSpPr/>
          <p:nvPr/>
        </p:nvSpPr>
        <p:spPr>
          <a:xfrm>
            <a:off x="905925" y="628925"/>
            <a:ext cx="96300" cy="96300"/>
          </a:xfrm>
          <a:prstGeom prst="ellipse">
            <a:avLst/>
          </a:prstGeom>
          <a:solidFill>
            <a:schemeClr val="accen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3" name="Google Shape;393;p25"/>
          <p:cNvSpPr/>
          <p:nvPr/>
        </p:nvSpPr>
        <p:spPr>
          <a:xfrm>
            <a:off x="1091850" y="628925"/>
            <a:ext cx="96300" cy="96300"/>
          </a:xfrm>
          <a:prstGeom prst="ellipse">
            <a:avLst/>
          </a:pr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25"/>
          <p:cNvSpPr txBox="1">
            <a:spLocks noGrp="1"/>
          </p:cNvSpPr>
          <p:nvPr>
            <p:ph type="ctrTitle"/>
          </p:nvPr>
        </p:nvSpPr>
        <p:spPr>
          <a:xfrm>
            <a:off x="720000" y="1049325"/>
            <a:ext cx="5650200" cy="77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200"/>
              <a:buNone/>
              <a:defRPr sz="4600" b="1">
                <a:latin typeface="Krona One"/>
                <a:ea typeface="Krona One"/>
                <a:cs typeface="Krona One"/>
                <a:sym typeface="Krona On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95" name="Google Shape;395;p25"/>
          <p:cNvSpPr txBox="1">
            <a:spLocks noGrp="1"/>
          </p:cNvSpPr>
          <p:nvPr>
            <p:ph type="subTitle" idx="1"/>
          </p:nvPr>
        </p:nvSpPr>
        <p:spPr>
          <a:xfrm>
            <a:off x="720000" y="1824225"/>
            <a:ext cx="5650200" cy="37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Font typeface="Krona One"/>
              <a:buNone/>
              <a:defRPr sz="2000" b="1">
                <a:highlight>
                  <a:schemeClr val="accent3"/>
                </a:highlight>
                <a:latin typeface="Krona One"/>
                <a:ea typeface="Krona One"/>
                <a:cs typeface="Krona One"/>
                <a:sym typeface="Krona On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Krona One"/>
              <a:buNone/>
              <a:defRPr sz="2000" b="1">
                <a:latin typeface="Krona One"/>
                <a:ea typeface="Krona One"/>
                <a:cs typeface="Krona One"/>
                <a:sym typeface="Krona On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Krona One"/>
              <a:buNone/>
              <a:defRPr sz="2000" b="1">
                <a:latin typeface="Krona One"/>
                <a:ea typeface="Krona One"/>
                <a:cs typeface="Krona One"/>
                <a:sym typeface="Krona On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Krona One"/>
              <a:buNone/>
              <a:defRPr sz="2000" b="1">
                <a:latin typeface="Krona One"/>
                <a:ea typeface="Krona One"/>
                <a:cs typeface="Krona One"/>
                <a:sym typeface="Krona On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Krona One"/>
              <a:buNone/>
              <a:defRPr sz="2000" b="1">
                <a:latin typeface="Krona One"/>
                <a:ea typeface="Krona One"/>
                <a:cs typeface="Krona One"/>
                <a:sym typeface="Krona On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Krona One"/>
              <a:buNone/>
              <a:defRPr sz="2000" b="1">
                <a:latin typeface="Krona One"/>
                <a:ea typeface="Krona One"/>
                <a:cs typeface="Krona One"/>
                <a:sym typeface="Krona On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Krona One"/>
              <a:buNone/>
              <a:defRPr sz="2000" b="1">
                <a:latin typeface="Krona One"/>
                <a:ea typeface="Krona One"/>
                <a:cs typeface="Krona One"/>
                <a:sym typeface="Krona On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Krona One"/>
              <a:buNone/>
              <a:defRPr sz="2000" b="1">
                <a:latin typeface="Krona One"/>
                <a:ea typeface="Krona One"/>
                <a:cs typeface="Krona One"/>
                <a:sym typeface="Krona On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Krona One"/>
              <a:buNone/>
              <a:defRPr sz="2000" b="1">
                <a:latin typeface="Krona One"/>
                <a:ea typeface="Krona One"/>
                <a:cs typeface="Krona One"/>
                <a:sym typeface="Krona One"/>
              </a:defRPr>
            </a:lvl9pPr>
          </a:lstStyle>
          <a:p>
            <a:endParaRPr/>
          </a:p>
        </p:txBody>
      </p:sp>
      <p:sp>
        <p:nvSpPr>
          <p:cNvPr id="396" name="Google Shape;396;p25"/>
          <p:cNvSpPr txBox="1">
            <a:spLocks noGrp="1"/>
          </p:cNvSpPr>
          <p:nvPr>
            <p:ph type="subTitle" idx="2"/>
          </p:nvPr>
        </p:nvSpPr>
        <p:spPr>
          <a:xfrm>
            <a:off x="720000" y="2299125"/>
            <a:ext cx="2762100" cy="85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397" name="Google Shape;397;p25"/>
          <p:cNvSpPr txBox="1"/>
          <p:nvPr/>
        </p:nvSpPr>
        <p:spPr>
          <a:xfrm>
            <a:off x="4202700" y="3883895"/>
            <a:ext cx="4295100" cy="4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chemeClr val="dk1"/>
                </a:solidFill>
                <a:latin typeface="Miriam Libre"/>
                <a:ea typeface="Miriam Libre"/>
                <a:cs typeface="Miriam Libre"/>
                <a:sym typeface="Miriam Libre"/>
              </a:rPr>
              <a:t>CREDITS: </a:t>
            </a:r>
            <a:r>
              <a:rPr lang="en" sz="1000">
                <a:solidFill>
                  <a:schemeClr val="dk1"/>
                </a:solidFill>
                <a:latin typeface="Miriam Libre"/>
                <a:ea typeface="Miriam Libre"/>
                <a:cs typeface="Miriam Libre"/>
                <a:sym typeface="Miriam Libre"/>
              </a:rPr>
              <a:t>This presentation template was created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Miriam Libre"/>
                <a:ea typeface="Miriam Libre"/>
                <a:cs typeface="Miriam Libre"/>
                <a:sym typeface="Miriam Libre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dk1"/>
                </a:solidFill>
                <a:latin typeface="Miriam Libre"/>
                <a:ea typeface="Miriam Libre"/>
                <a:cs typeface="Miriam Libre"/>
                <a:sym typeface="Miriam Libre"/>
              </a:rPr>
              <a:t>, including icons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Miriam Libre"/>
                <a:ea typeface="Miriam Libre"/>
                <a:cs typeface="Miriam Libre"/>
                <a:sym typeface="Miriam Libre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000">
                <a:solidFill>
                  <a:schemeClr val="dk1"/>
                </a:solidFill>
                <a:latin typeface="Miriam Libre"/>
                <a:ea typeface="Miriam Libre"/>
                <a:cs typeface="Miriam Libre"/>
                <a:sym typeface="Miriam Libre"/>
              </a:rPr>
              <a:t> and infographics &amp; images by </a:t>
            </a:r>
            <a:r>
              <a:rPr lang="en" sz="1000" b="1">
                <a:solidFill>
                  <a:schemeClr val="dk1"/>
                </a:solidFill>
                <a:uFill>
                  <a:noFill/>
                </a:uFill>
                <a:latin typeface="Miriam Libre"/>
                <a:ea typeface="Miriam Libre"/>
                <a:cs typeface="Miriam Libre"/>
                <a:sym typeface="Miriam Libre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000" b="1">
              <a:solidFill>
                <a:schemeClr val="dk1"/>
              </a:solidFill>
              <a:latin typeface="Miriam Libre"/>
              <a:ea typeface="Miriam Libre"/>
              <a:cs typeface="Miriam Libre"/>
              <a:sym typeface="Miriam Libre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2"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26"/>
          <p:cNvSpPr/>
          <p:nvPr/>
        </p:nvSpPr>
        <p:spPr>
          <a:xfrm>
            <a:off x="561425" y="461125"/>
            <a:ext cx="8172600" cy="691200"/>
          </a:xfrm>
          <a:prstGeom prst="rect">
            <a:avLst/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26"/>
          <p:cNvSpPr/>
          <p:nvPr/>
        </p:nvSpPr>
        <p:spPr>
          <a:xfrm>
            <a:off x="485700" y="378375"/>
            <a:ext cx="8172600" cy="6912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1" name="Google Shape;401;p26"/>
          <p:cNvSpPr/>
          <p:nvPr/>
        </p:nvSpPr>
        <p:spPr>
          <a:xfrm>
            <a:off x="561425" y="1356100"/>
            <a:ext cx="8172600" cy="3416400"/>
          </a:xfrm>
          <a:prstGeom prst="rect">
            <a:avLst/>
          </a:pr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2" name="Google Shape;402;p26"/>
          <p:cNvSpPr/>
          <p:nvPr/>
        </p:nvSpPr>
        <p:spPr>
          <a:xfrm>
            <a:off x="485700" y="1273350"/>
            <a:ext cx="8172600" cy="34164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3" name="Google Shape;403;p26"/>
          <p:cNvSpPr/>
          <p:nvPr/>
        </p:nvSpPr>
        <p:spPr>
          <a:xfrm>
            <a:off x="8306050" y="461125"/>
            <a:ext cx="236100" cy="236100"/>
          </a:xfrm>
          <a:prstGeom prst="mathMultiply">
            <a:avLst>
              <a:gd name="adj1" fmla="val 19282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2_1"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27"/>
          <p:cNvSpPr/>
          <p:nvPr/>
        </p:nvSpPr>
        <p:spPr>
          <a:xfrm>
            <a:off x="561425" y="1356600"/>
            <a:ext cx="4715400" cy="3416400"/>
          </a:xfrm>
          <a:prstGeom prst="rect">
            <a:avLst/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27"/>
          <p:cNvSpPr/>
          <p:nvPr/>
        </p:nvSpPr>
        <p:spPr>
          <a:xfrm>
            <a:off x="485700" y="1273975"/>
            <a:ext cx="4715400" cy="34164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7" name="Google Shape;407;p27"/>
          <p:cNvSpPr/>
          <p:nvPr/>
        </p:nvSpPr>
        <p:spPr>
          <a:xfrm>
            <a:off x="485700" y="1273350"/>
            <a:ext cx="4715400" cy="275400"/>
          </a:xfrm>
          <a:prstGeom prst="rect">
            <a:avLst/>
          </a:prstGeom>
          <a:solidFill>
            <a:schemeClr val="accen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8" name="Google Shape;408;p27"/>
          <p:cNvSpPr/>
          <p:nvPr/>
        </p:nvSpPr>
        <p:spPr>
          <a:xfrm>
            <a:off x="720000" y="1362900"/>
            <a:ext cx="96300" cy="96300"/>
          </a:xfrm>
          <a:prstGeom prst="ellipse">
            <a:avLst/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9" name="Google Shape;409;p27"/>
          <p:cNvSpPr/>
          <p:nvPr/>
        </p:nvSpPr>
        <p:spPr>
          <a:xfrm>
            <a:off x="905925" y="1362900"/>
            <a:ext cx="96300" cy="96300"/>
          </a:xfrm>
          <a:prstGeom prst="ellipse">
            <a:avLst/>
          </a:prstGeom>
          <a:solidFill>
            <a:schemeClr val="accen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0" name="Google Shape;410;p27"/>
          <p:cNvSpPr/>
          <p:nvPr/>
        </p:nvSpPr>
        <p:spPr>
          <a:xfrm>
            <a:off x="1091850" y="1362900"/>
            <a:ext cx="96300" cy="96300"/>
          </a:xfrm>
          <a:prstGeom prst="ellipse">
            <a:avLst/>
          </a:pr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1" name="Google Shape;411;p27"/>
          <p:cNvSpPr/>
          <p:nvPr/>
        </p:nvSpPr>
        <p:spPr>
          <a:xfrm>
            <a:off x="561425" y="461125"/>
            <a:ext cx="8172600" cy="691200"/>
          </a:xfrm>
          <a:prstGeom prst="rect">
            <a:avLst/>
          </a:pr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p27"/>
          <p:cNvSpPr/>
          <p:nvPr/>
        </p:nvSpPr>
        <p:spPr>
          <a:xfrm>
            <a:off x="485700" y="378375"/>
            <a:ext cx="8172600" cy="6912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27"/>
          <p:cNvSpPr/>
          <p:nvPr/>
        </p:nvSpPr>
        <p:spPr>
          <a:xfrm>
            <a:off x="5493300" y="1356600"/>
            <a:ext cx="3240600" cy="3416400"/>
          </a:xfrm>
          <a:prstGeom prst="rect">
            <a:avLst/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4" name="Google Shape;414;p27"/>
          <p:cNvSpPr/>
          <p:nvPr/>
        </p:nvSpPr>
        <p:spPr>
          <a:xfrm>
            <a:off x="5417575" y="1273975"/>
            <a:ext cx="3240600" cy="34164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5" name="Google Shape;415;p27"/>
          <p:cNvSpPr/>
          <p:nvPr/>
        </p:nvSpPr>
        <p:spPr>
          <a:xfrm>
            <a:off x="5417575" y="1273350"/>
            <a:ext cx="3240600" cy="275400"/>
          </a:xfrm>
          <a:prstGeom prst="rect">
            <a:avLst/>
          </a:prstGeom>
          <a:solidFill>
            <a:schemeClr val="accen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6" name="Google Shape;416;p27"/>
          <p:cNvSpPr/>
          <p:nvPr/>
        </p:nvSpPr>
        <p:spPr>
          <a:xfrm>
            <a:off x="5651875" y="1362900"/>
            <a:ext cx="96300" cy="96300"/>
          </a:xfrm>
          <a:prstGeom prst="ellipse">
            <a:avLst/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7" name="Google Shape;417;p27"/>
          <p:cNvSpPr/>
          <p:nvPr/>
        </p:nvSpPr>
        <p:spPr>
          <a:xfrm>
            <a:off x="5837800" y="1362900"/>
            <a:ext cx="96300" cy="96300"/>
          </a:xfrm>
          <a:prstGeom prst="ellipse">
            <a:avLst/>
          </a:prstGeom>
          <a:solidFill>
            <a:schemeClr val="accen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27"/>
          <p:cNvSpPr/>
          <p:nvPr/>
        </p:nvSpPr>
        <p:spPr>
          <a:xfrm>
            <a:off x="6023725" y="1362900"/>
            <a:ext cx="96300" cy="96300"/>
          </a:xfrm>
          <a:prstGeom prst="ellipse">
            <a:avLst/>
          </a:pr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2_2"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28"/>
          <p:cNvSpPr/>
          <p:nvPr/>
        </p:nvSpPr>
        <p:spPr>
          <a:xfrm>
            <a:off x="561425" y="1356600"/>
            <a:ext cx="3907500" cy="3416400"/>
          </a:xfrm>
          <a:prstGeom prst="rect">
            <a:avLst/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p28"/>
          <p:cNvSpPr/>
          <p:nvPr/>
        </p:nvSpPr>
        <p:spPr>
          <a:xfrm>
            <a:off x="485700" y="1273975"/>
            <a:ext cx="3907500" cy="34164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p28"/>
          <p:cNvSpPr/>
          <p:nvPr/>
        </p:nvSpPr>
        <p:spPr>
          <a:xfrm>
            <a:off x="485700" y="1273350"/>
            <a:ext cx="3907500" cy="275400"/>
          </a:xfrm>
          <a:prstGeom prst="rect">
            <a:avLst/>
          </a:prstGeom>
          <a:solidFill>
            <a:schemeClr val="dk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3" name="Google Shape;423;p28"/>
          <p:cNvSpPr/>
          <p:nvPr/>
        </p:nvSpPr>
        <p:spPr>
          <a:xfrm>
            <a:off x="720000" y="1362900"/>
            <a:ext cx="96300" cy="96300"/>
          </a:xfrm>
          <a:prstGeom prst="ellipse">
            <a:avLst/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p28"/>
          <p:cNvSpPr/>
          <p:nvPr/>
        </p:nvSpPr>
        <p:spPr>
          <a:xfrm>
            <a:off x="905925" y="1362900"/>
            <a:ext cx="96300" cy="96300"/>
          </a:xfrm>
          <a:prstGeom prst="ellipse">
            <a:avLst/>
          </a:prstGeom>
          <a:solidFill>
            <a:schemeClr val="accen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5" name="Google Shape;425;p28"/>
          <p:cNvSpPr/>
          <p:nvPr/>
        </p:nvSpPr>
        <p:spPr>
          <a:xfrm>
            <a:off x="1091850" y="1362900"/>
            <a:ext cx="96300" cy="96300"/>
          </a:xfrm>
          <a:prstGeom prst="ellipse">
            <a:avLst/>
          </a:pr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6" name="Google Shape;426;p28"/>
          <p:cNvSpPr/>
          <p:nvPr/>
        </p:nvSpPr>
        <p:spPr>
          <a:xfrm>
            <a:off x="561425" y="461125"/>
            <a:ext cx="8172600" cy="691200"/>
          </a:xfrm>
          <a:prstGeom prst="rect">
            <a:avLst/>
          </a:pr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7" name="Google Shape;427;p28"/>
          <p:cNvSpPr/>
          <p:nvPr/>
        </p:nvSpPr>
        <p:spPr>
          <a:xfrm>
            <a:off x="485700" y="378375"/>
            <a:ext cx="8172600" cy="6912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8" name="Google Shape;428;p28"/>
          <p:cNvSpPr/>
          <p:nvPr/>
        </p:nvSpPr>
        <p:spPr>
          <a:xfrm>
            <a:off x="8306050" y="461125"/>
            <a:ext cx="236100" cy="236100"/>
          </a:xfrm>
          <a:prstGeom prst="mathMultiply">
            <a:avLst>
              <a:gd name="adj1" fmla="val 19282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9" name="Google Shape;429;p28"/>
          <p:cNvSpPr/>
          <p:nvPr/>
        </p:nvSpPr>
        <p:spPr>
          <a:xfrm>
            <a:off x="4826525" y="1356600"/>
            <a:ext cx="3907500" cy="3416400"/>
          </a:xfrm>
          <a:prstGeom prst="rect">
            <a:avLst/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0" name="Google Shape;430;p28"/>
          <p:cNvSpPr/>
          <p:nvPr/>
        </p:nvSpPr>
        <p:spPr>
          <a:xfrm>
            <a:off x="4750800" y="1273975"/>
            <a:ext cx="3907500" cy="34164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1" name="Google Shape;431;p28"/>
          <p:cNvSpPr/>
          <p:nvPr/>
        </p:nvSpPr>
        <p:spPr>
          <a:xfrm>
            <a:off x="4750800" y="1273350"/>
            <a:ext cx="3907500" cy="275400"/>
          </a:xfrm>
          <a:prstGeom prst="rect">
            <a:avLst/>
          </a:prstGeom>
          <a:solidFill>
            <a:schemeClr val="dk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2" name="Google Shape;432;p28"/>
          <p:cNvSpPr/>
          <p:nvPr/>
        </p:nvSpPr>
        <p:spPr>
          <a:xfrm>
            <a:off x="4985100" y="1362900"/>
            <a:ext cx="96300" cy="96300"/>
          </a:xfrm>
          <a:prstGeom prst="ellipse">
            <a:avLst/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3" name="Google Shape;433;p28"/>
          <p:cNvSpPr/>
          <p:nvPr/>
        </p:nvSpPr>
        <p:spPr>
          <a:xfrm>
            <a:off x="5171025" y="1362900"/>
            <a:ext cx="96300" cy="96300"/>
          </a:xfrm>
          <a:prstGeom prst="ellipse">
            <a:avLst/>
          </a:prstGeom>
          <a:solidFill>
            <a:schemeClr val="accen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p28"/>
          <p:cNvSpPr/>
          <p:nvPr/>
        </p:nvSpPr>
        <p:spPr>
          <a:xfrm>
            <a:off x="5356950" y="1362900"/>
            <a:ext cx="96300" cy="96300"/>
          </a:xfrm>
          <a:prstGeom prst="ellipse">
            <a:avLst/>
          </a:pr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8EBF06C-5074-4EAE-BC2A-F332C3F56963}"/>
              </a:ext>
            </a:extLst>
          </p:cNvPr>
          <p:cNvSpPr/>
          <p:nvPr userDrawn="1"/>
        </p:nvSpPr>
        <p:spPr bwMode="auto">
          <a:xfrm>
            <a:off x="0" y="0"/>
            <a:ext cx="3886200" cy="5143500"/>
          </a:xfrm>
          <a:prstGeom prst="rect">
            <a:avLst/>
          </a:prstGeom>
          <a:solidFill>
            <a:schemeClr val="bg2"/>
          </a:solidFill>
          <a:ln w="12700">
            <a:noFill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160" tIns="109728" rIns="137160" bIns="1097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699354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0796D-FA9D-4300-8DDD-46D303CEC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5750" y="1546621"/>
            <a:ext cx="3429000" cy="2053829"/>
          </a:xfrm>
        </p:spPr>
        <p:txBody>
          <a:bodyPr anchor="ctr">
            <a:normAutofit/>
          </a:bodyPr>
          <a:lstStyle>
            <a:lvl1pPr>
              <a:defRPr sz="3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52C5FA-CA46-428D-86B4-114D455DDC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57650" y="1546621"/>
            <a:ext cx="4800600" cy="2053829"/>
          </a:xfrm>
        </p:spPr>
        <p:txBody>
          <a:bodyPr anchor="ctr">
            <a:normAutofit/>
          </a:bodyPr>
          <a:lstStyle>
            <a:lvl1pPr marL="258366" indent="-173831">
              <a:buFont typeface="Wingdings" panose="05000000000000000000" pitchFamily="2" charset="2"/>
              <a:buChar char="§"/>
              <a:defRPr sz="21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DC00ED-BF76-4FC6-8F76-A08D9AAE46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58763E-B898-436D-883D-03711491D54A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B6BB6F-275F-40A4-B65D-77498F7D2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D07C52-7E90-4100-9E15-9963F85DF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44F4-F215-4E77-8A37-E5924A9890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96090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51F5F-9E3D-461E-A9A2-DEAD886C2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6ADA06-0604-402E-96FC-C5A6963907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6684CE-E12F-45BC-9163-59E6D2ABC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58763E-B898-436D-883D-03711491D54A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3279CC-07CA-4AC5-A1AC-1010514EF1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0A737-103C-43F6-85F3-E27022DEB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44F4-F215-4E77-8A37-E5924A9890F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2D26AC1-0738-4DF2-AD94-A51900A39340}"/>
              </a:ext>
            </a:extLst>
          </p:cNvPr>
          <p:cNvCxnSpPr/>
          <p:nvPr userDrawn="1"/>
        </p:nvCxnSpPr>
        <p:spPr>
          <a:xfrm>
            <a:off x="285750" y="771525"/>
            <a:ext cx="8572500" cy="0"/>
          </a:xfrm>
          <a:prstGeom prst="line">
            <a:avLst/>
          </a:prstGeom>
          <a:ln w="28575">
            <a:gradFill>
              <a:gsLst>
                <a:gs pos="0">
                  <a:schemeClr val="accent2"/>
                </a:gs>
                <a:gs pos="99000">
                  <a:schemeClr val="accent1"/>
                </a:gs>
              </a:gsLst>
            </a:gra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9626757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1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Krona One"/>
              <a:buNone/>
              <a:defRPr sz="2800" b="1">
                <a:solidFill>
                  <a:schemeClr val="dk1"/>
                </a:solidFill>
                <a:latin typeface="Krona One"/>
                <a:ea typeface="Krona One"/>
                <a:cs typeface="Krona One"/>
                <a:sym typeface="Krona On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Krona One"/>
              <a:buNone/>
              <a:defRPr sz="2800" b="1">
                <a:solidFill>
                  <a:schemeClr val="dk1"/>
                </a:solidFill>
                <a:latin typeface="Krona One"/>
                <a:ea typeface="Krona One"/>
                <a:cs typeface="Krona One"/>
                <a:sym typeface="Krona On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Krona One"/>
              <a:buNone/>
              <a:defRPr sz="2800" b="1">
                <a:solidFill>
                  <a:schemeClr val="dk1"/>
                </a:solidFill>
                <a:latin typeface="Krona One"/>
                <a:ea typeface="Krona One"/>
                <a:cs typeface="Krona One"/>
                <a:sym typeface="Krona On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Krona One"/>
              <a:buNone/>
              <a:defRPr sz="2800" b="1">
                <a:solidFill>
                  <a:schemeClr val="dk1"/>
                </a:solidFill>
                <a:latin typeface="Krona One"/>
                <a:ea typeface="Krona One"/>
                <a:cs typeface="Krona One"/>
                <a:sym typeface="Krona On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Krona One"/>
              <a:buNone/>
              <a:defRPr sz="2800" b="1">
                <a:solidFill>
                  <a:schemeClr val="dk1"/>
                </a:solidFill>
                <a:latin typeface="Krona One"/>
                <a:ea typeface="Krona One"/>
                <a:cs typeface="Krona One"/>
                <a:sym typeface="Krona On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Krona One"/>
              <a:buNone/>
              <a:defRPr sz="2800" b="1">
                <a:solidFill>
                  <a:schemeClr val="dk1"/>
                </a:solidFill>
                <a:latin typeface="Krona One"/>
                <a:ea typeface="Krona One"/>
                <a:cs typeface="Krona One"/>
                <a:sym typeface="Krona On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Krona One"/>
              <a:buNone/>
              <a:defRPr sz="2800" b="1">
                <a:solidFill>
                  <a:schemeClr val="dk1"/>
                </a:solidFill>
                <a:latin typeface="Krona One"/>
                <a:ea typeface="Krona One"/>
                <a:cs typeface="Krona One"/>
                <a:sym typeface="Krona On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Krona One"/>
              <a:buNone/>
              <a:defRPr sz="2800" b="1">
                <a:solidFill>
                  <a:schemeClr val="dk1"/>
                </a:solidFill>
                <a:latin typeface="Krona One"/>
                <a:ea typeface="Krona One"/>
                <a:cs typeface="Krona One"/>
                <a:sym typeface="Krona On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Krona One"/>
              <a:buNone/>
              <a:defRPr sz="2800" b="1">
                <a:solidFill>
                  <a:schemeClr val="dk1"/>
                </a:solidFill>
                <a:latin typeface="Krona One"/>
                <a:ea typeface="Krona One"/>
                <a:cs typeface="Krona One"/>
                <a:sym typeface="Krona On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iriam Libre"/>
              <a:buChar char="●"/>
              <a:defRPr sz="1600">
                <a:solidFill>
                  <a:schemeClr val="dk1"/>
                </a:solidFill>
                <a:latin typeface="Miriam Libre"/>
                <a:ea typeface="Miriam Libre"/>
                <a:cs typeface="Miriam Libre"/>
                <a:sym typeface="Miriam Libre"/>
              </a:defRPr>
            </a:lvl1pPr>
            <a:lvl2pPr marL="914400" lvl="1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iriam Libre"/>
              <a:buChar char="○"/>
              <a:defRPr sz="1600">
                <a:solidFill>
                  <a:schemeClr val="dk1"/>
                </a:solidFill>
                <a:latin typeface="Miriam Libre"/>
                <a:ea typeface="Miriam Libre"/>
                <a:cs typeface="Miriam Libre"/>
                <a:sym typeface="Miriam Libre"/>
              </a:defRPr>
            </a:lvl2pPr>
            <a:lvl3pPr marL="1371600" lvl="2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iriam Libre"/>
              <a:buChar char="■"/>
              <a:defRPr sz="1600">
                <a:solidFill>
                  <a:schemeClr val="dk1"/>
                </a:solidFill>
                <a:latin typeface="Miriam Libre"/>
                <a:ea typeface="Miriam Libre"/>
                <a:cs typeface="Miriam Libre"/>
                <a:sym typeface="Miriam Libre"/>
              </a:defRPr>
            </a:lvl3pPr>
            <a:lvl4pPr marL="1828800" lvl="3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iriam Libre"/>
              <a:buChar char="●"/>
              <a:defRPr sz="1600">
                <a:solidFill>
                  <a:schemeClr val="dk1"/>
                </a:solidFill>
                <a:latin typeface="Miriam Libre"/>
                <a:ea typeface="Miriam Libre"/>
                <a:cs typeface="Miriam Libre"/>
                <a:sym typeface="Miriam Libre"/>
              </a:defRPr>
            </a:lvl4pPr>
            <a:lvl5pPr marL="2286000" lvl="4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iriam Libre"/>
              <a:buChar char="○"/>
              <a:defRPr sz="1600">
                <a:solidFill>
                  <a:schemeClr val="dk1"/>
                </a:solidFill>
                <a:latin typeface="Miriam Libre"/>
                <a:ea typeface="Miriam Libre"/>
                <a:cs typeface="Miriam Libre"/>
                <a:sym typeface="Miriam Libre"/>
              </a:defRPr>
            </a:lvl5pPr>
            <a:lvl6pPr marL="2743200" lvl="5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iriam Libre"/>
              <a:buChar char="■"/>
              <a:defRPr sz="1600">
                <a:solidFill>
                  <a:schemeClr val="dk1"/>
                </a:solidFill>
                <a:latin typeface="Miriam Libre"/>
                <a:ea typeface="Miriam Libre"/>
                <a:cs typeface="Miriam Libre"/>
                <a:sym typeface="Miriam Libre"/>
              </a:defRPr>
            </a:lvl6pPr>
            <a:lvl7pPr marL="3200400" lvl="6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iriam Libre"/>
              <a:buChar char="●"/>
              <a:defRPr sz="1600">
                <a:solidFill>
                  <a:schemeClr val="dk1"/>
                </a:solidFill>
                <a:latin typeface="Miriam Libre"/>
                <a:ea typeface="Miriam Libre"/>
                <a:cs typeface="Miriam Libre"/>
                <a:sym typeface="Miriam Libre"/>
              </a:defRPr>
            </a:lvl7pPr>
            <a:lvl8pPr marL="3657600" lvl="7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iriam Libre"/>
              <a:buChar char="○"/>
              <a:defRPr sz="1600">
                <a:solidFill>
                  <a:schemeClr val="dk1"/>
                </a:solidFill>
                <a:latin typeface="Miriam Libre"/>
                <a:ea typeface="Miriam Libre"/>
                <a:cs typeface="Miriam Libre"/>
                <a:sym typeface="Miriam Libre"/>
              </a:defRPr>
            </a:lvl8pPr>
            <a:lvl9pPr marL="4114800" lvl="8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iriam Libre"/>
              <a:buChar char="■"/>
              <a:defRPr sz="1600">
                <a:solidFill>
                  <a:schemeClr val="dk1"/>
                </a:solidFill>
                <a:latin typeface="Miriam Libre"/>
                <a:ea typeface="Miriam Libre"/>
                <a:cs typeface="Miriam Libre"/>
                <a:sym typeface="Miriam Libr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8" r:id="rId3"/>
    <p:sldLayoutId id="2147483671" r:id="rId4"/>
    <p:sldLayoutId id="2147483672" r:id="rId5"/>
    <p:sldLayoutId id="2147483673" r:id="rId6"/>
    <p:sldLayoutId id="2147483674" r:id="rId7"/>
    <p:sldLayoutId id="2147483678" r:id="rId8"/>
    <p:sldLayoutId id="2147483679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jsfiddle.net/5fmw3dL8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jsfiddle.net/mz7gpx6c/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jsfiddle.net/70jat2m6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jsfiddle.net/atg9vohw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31"/>
          <p:cNvSpPr/>
          <p:nvPr/>
        </p:nvSpPr>
        <p:spPr>
          <a:xfrm>
            <a:off x="5517175" y="3746300"/>
            <a:ext cx="939600" cy="939600"/>
          </a:xfrm>
          <a:prstGeom prst="snip1Rect">
            <a:avLst>
              <a:gd name="adj" fmla="val 11329"/>
            </a:avLst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4" name="Google Shape;444;p31"/>
          <p:cNvSpPr txBox="1">
            <a:spLocks noGrp="1"/>
          </p:cNvSpPr>
          <p:nvPr>
            <p:ph type="ctrTitle"/>
          </p:nvPr>
        </p:nvSpPr>
        <p:spPr>
          <a:xfrm>
            <a:off x="720000" y="1138400"/>
            <a:ext cx="7704000" cy="200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 dirty="0"/>
              <a:t>Tables &amp; IFrames</a:t>
            </a:r>
            <a:endParaRPr sz="6000" dirty="0"/>
          </a:p>
        </p:txBody>
      </p:sp>
      <p:sp>
        <p:nvSpPr>
          <p:cNvPr id="445" name="Google Shape;445;p31"/>
          <p:cNvSpPr txBox="1">
            <a:spLocks noGrp="1"/>
          </p:cNvSpPr>
          <p:nvPr>
            <p:ph type="subTitle" idx="1"/>
          </p:nvPr>
        </p:nvSpPr>
        <p:spPr>
          <a:xfrm>
            <a:off x="720000" y="3907725"/>
            <a:ext cx="4152600" cy="45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Hy-Tech Club: Web 101</a:t>
            </a:r>
            <a:endParaRPr dirty="0"/>
          </a:p>
        </p:txBody>
      </p:sp>
      <p:sp>
        <p:nvSpPr>
          <p:cNvPr id="446" name="Google Shape;446;p31"/>
          <p:cNvSpPr/>
          <p:nvPr/>
        </p:nvSpPr>
        <p:spPr>
          <a:xfrm>
            <a:off x="5437275" y="3665400"/>
            <a:ext cx="939600" cy="939600"/>
          </a:xfrm>
          <a:prstGeom prst="snip1Rect">
            <a:avLst>
              <a:gd name="adj" fmla="val 11329"/>
            </a:avLst>
          </a:prstGeom>
          <a:solidFill>
            <a:schemeClr val="accen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7" name="Google Shape;447;p31"/>
          <p:cNvSpPr/>
          <p:nvPr/>
        </p:nvSpPr>
        <p:spPr>
          <a:xfrm>
            <a:off x="6655800" y="3746300"/>
            <a:ext cx="939600" cy="939600"/>
          </a:xfrm>
          <a:prstGeom prst="snip1Rect">
            <a:avLst>
              <a:gd name="adj" fmla="val 11329"/>
            </a:avLst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31"/>
          <p:cNvSpPr/>
          <p:nvPr/>
        </p:nvSpPr>
        <p:spPr>
          <a:xfrm>
            <a:off x="6575900" y="3665400"/>
            <a:ext cx="939600" cy="939600"/>
          </a:xfrm>
          <a:prstGeom prst="snip1Rect">
            <a:avLst>
              <a:gd name="adj" fmla="val 11329"/>
            </a:avLst>
          </a:prstGeom>
          <a:solidFill>
            <a:schemeClr val="accen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9" name="Google Shape;449;p31"/>
          <p:cNvSpPr/>
          <p:nvPr/>
        </p:nvSpPr>
        <p:spPr>
          <a:xfrm>
            <a:off x="7794425" y="3746300"/>
            <a:ext cx="939600" cy="939600"/>
          </a:xfrm>
          <a:prstGeom prst="snip1Rect">
            <a:avLst>
              <a:gd name="adj" fmla="val 11329"/>
            </a:avLst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0" name="Google Shape;450;p31"/>
          <p:cNvSpPr/>
          <p:nvPr/>
        </p:nvSpPr>
        <p:spPr>
          <a:xfrm>
            <a:off x="7714525" y="3665400"/>
            <a:ext cx="939600" cy="939600"/>
          </a:xfrm>
          <a:prstGeom prst="snip1Rect">
            <a:avLst>
              <a:gd name="adj" fmla="val 11329"/>
            </a:avLst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E2B2A6-2588-BECE-DB70-950112F82E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82289CE-B960-EEDA-377E-82719C37254C}"/>
              </a:ext>
            </a:extLst>
          </p:cNvPr>
          <p:cNvSpPr/>
          <p:nvPr/>
        </p:nvSpPr>
        <p:spPr>
          <a:xfrm>
            <a:off x="512618" y="1302327"/>
            <a:ext cx="8104909" cy="334587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The List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595745" y="1351850"/>
            <a:ext cx="7828255" cy="1477076"/>
          </a:xfrm>
        </p:spPr>
        <p:txBody>
          <a:bodyPr/>
          <a:lstStyle/>
          <a:p>
            <a:pPr marL="323850" indent="-1714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Lists are used to display groups of items</a:t>
            </a:r>
          </a:p>
          <a:p>
            <a:pPr marL="323850" indent="-1714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They can be unordered (bullet points) or ordered (numbered)</a:t>
            </a:r>
          </a:p>
          <a:p>
            <a:pPr marL="323850" indent="-1714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Each item is its own HTML element: </a:t>
            </a:r>
            <a:r>
              <a:rPr lang="en-US" sz="1800" b="1" dirty="0">
                <a:solidFill>
                  <a:schemeClr val="tx2"/>
                </a:solidFill>
                <a:latin typeface="Consolas" panose="020B0609020204030204" pitchFamily="49" charset="0"/>
              </a:rPr>
              <a:t>&lt;li&gt;</a:t>
            </a:r>
          </a:p>
          <a:p>
            <a:pPr marL="323850" indent="-1714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The list items are </a:t>
            </a:r>
            <a:r>
              <a:rPr lang="en-US" sz="1800" i="1" dirty="0">
                <a:solidFill>
                  <a:schemeClr val="bg1"/>
                </a:solidFill>
              </a:rPr>
              <a:t>children</a:t>
            </a:r>
            <a:r>
              <a:rPr lang="en-US" sz="1800" dirty="0">
                <a:solidFill>
                  <a:schemeClr val="bg1"/>
                </a:solidFill>
              </a:rPr>
              <a:t> and the list elements are the </a:t>
            </a:r>
            <a:r>
              <a:rPr lang="en-US" sz="1800" i="1" dirty="0">
                <a:solidFill>
                  <a:schemeClr val="bg1"/>
                </a:solidFill>
              </a:rPr>
              <a:t>parents</a:t>
            </a: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5745" y="2828926"/>
            <a:ext cx="3519874" cy="1883593"/>
          </a:xfrm>
          <a:prstGeom prst="rect">
            <a:avLst/>
          </a:prstGeom>
          <a:noFill/>
        </p:spPr>
        <p:txBody>
          <a:bodyPr wrap="none" lIns="137160" tIns="109728" rIns="137160" bIns="109728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&lt;</a:t>
            </a: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569CD6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ul</a:t>
            </a: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&gt;</a:t>
            </a:r>
            <a:endParaRPr kumimoji="0" lang="it-IT" sz="2700" b="0" i="0" u="none" strike="noStrike" kern="0" cap="none" spc="0" normalizeH="0" baseline="0" noProof="0" dirty="0">
              <a:ln>
                <a:noFill/>
              </a:ln>
              <a:solidFill>
                <a:srgbClr val="D4D4D4"/>
              </a:solidFill>
              <a:effectLst/>
              <a:uLnTx/>
              <a:uFillTx/>
              <a:latin typeface="Consolas" panose="020B0609020204030204" pitchFamily="49" charset="0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    </a:t>
            </a: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&lt;</a:t>
            </a: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569CD6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li</a:t>
            </a: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&gt;</a:t>
            </a: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Eggs</a:t>
            </a: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&lt;/</a:t>
            </a: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569CD6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li</a:t>
            </a: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&gt;</a:t>
            </a:r>
            <a:endParaRPr kumimoji="0" lang="it-IT" sz="2700" b="0" i="0" u="none" strike="noStrike" kern="0" cap="none" spc="0" normalizeH="0" baseline="0" noProof="0" dirty="0">
              <a:ln>
                <a:noFill/>
              </a:ln>
              <a:solidFill>
                <a:srgbClr val="D4D4D4"/>
              </a:solidFill>
              <a:effectLst/>
              <a:uLnTx/>
              <a:uFillTx/>
              <a:latin typeface="Consolas" panose="020B0609020204030204" pitchFamily="49" charset="0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    </a:t>
            </a: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&lt;</a:t>
            </a: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569CD6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li</a:t>
            </a: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&gt;</a:t>
            </a: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Milk</a:t>
            </a: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&lt;/</a:t>
            </a: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569CD6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li</a:t>
            </a: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&gt;</a:t>
            </a:r>
            <a:endParaRPr kumimoji="0" lang="it-IT" sz="2700" b="0" i="0" u="none" strike="noStrike" kern="0" cap="none" spc="0" normalizeH="0" baseline="0" noProof="0" dirty="0">
              <a:ln>
                <a:noFill/>
              </a:ln>
              <a:solidFill>
                <a:srgbClr val="D4D4D4"/>
              </a:solidFill>
              <a:effectLst/>
              <a:uLnTx/>
              <a:uFillTx/>
              <a:latin typeface="Consolas" panose="020B0609020204030204" pitchFamily="49" charset="0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&lt;/</a:t>
            </a: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569CD6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ul</a:t>
            </a: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&gt;</a:t>
            </a:r>
            <a:endParaRPr kumimoji="0" lang="it-IT" sz="2700" b="0" i="0" u="none" strike="noStrike" kern="0" cap="none" spc="0" normalizeH="0" baseline="0" noProof="0" dirty="0">
              <a:ln>
                <a:noFill/>
              </a:ln>
              <a:solidFill>
                <a:srgbClr val="D4D4D4"/>
              </a:solidFill>
              <a:effectLst/>
              <a:uLnTx/>
              <a:uFillTx/>
              <a:latin typeface="Consolas" panose="020B0609020204030204" pitchFamily="49" charset="0"/>
              <a:cs typeface="Arial"/>
              <a:sym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403895" y="2828926"/>
            <a:ext cx="4282904" cy="1883593"/>
          </a:xfrm>
          <a:prstGeom prst="rect">
            <a:avLst/>
          </a:prstGeom>
          <a:noFill/>
        </p:spPr>
        <p:txBody>
          <a:bodyPr wrap="none" lIns="137160" tIns="109728" rIns="137160" bIns="109728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&lt;</a:t>
            </a: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569CD6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ol</a:t>
            </a: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&gt;</a:t>
            </a:r>
            <a:endParaRPr kumimoji="0" lang="it-IT" sz="2700" b="0" i="0" u="none" strike="noStrike" kern="0" cap="none" spc="0" normalizeH="0" baseline="0" noProof="0" dirty="0">
              <a:ln>
                <a:noFill/>
              </a:ln>
              <a:solidFill>
                <a:srgbClr val="D4D4D4"/>
              </a:solidFill>
              <a:effectLst/>
              <a:uLnTx/>
              <a:uFillTx/>
              <a:latin typeface="Consolas" panose="020B0609020204030204" pitchFamily="49" charset="0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    </a:t>
            </a: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&lt;</a:t>
            </a: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569CD6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li</a:t>
            </a: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&gt;</a:t>
            </a: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Iron Man</a:t>
            </a: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&lt;/</a:t>
            </a: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569CD6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li</a:t>
            </a: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&gt;</a:t>
            </a:r>
            <a:endParaRPr kumimoji="0" lang="it-IT" sz="2700" b="0" i="0" u="none" strike="noStrike" kern="0" cap="none" spc="0" normalizeH="0" baseline="0" noProof="0" dirty="0">
              <a:ln>
                <a:noFill/>
              </a:ln>
              <a:solidFill>
                <a:srgbClr val="D4D4D4"/>
              </a:solidFill>
              <a:effectLst/>
              <a:uLnTx/>
              <a:uFillTx/>
              <a:latin typeface="Consolas" panose="020B0609020204030204" pitchFamily="49" charset="0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    </a:t>
            </a: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&lt;</a:t>
            </a: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569CD6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li</a:t>
            </a: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&gt;</a:t>
            </a: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The Hulk</a:t>
            </a: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&lt;/</a:t>
            </a: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569CD6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li</a:t>
            </a: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&gt;</a:t>
            </a:r>
            <a:endParaRPr kumimoji="0" lang="it-IT" sz="2700" b="0" i="0" u="none" strike="noStrike" kern="0" cap="none" spc="0" normalizeH="0" baseline="0" noProof="0" dirty="0">
              <a:ln>
                <a:noFill/>
              </a:ln>
              <a:solidFill>
                <a:srgbClr val="D4D4D4"/>
              </a:solidFill>
              <a:effectLst/>
              <a:uLnTx/>
              <a:uFillTx/>
              <a:latin typeface="Consolas" panose="020B0609020204030204" pitchFamily="49" charset="0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&lt;/</a:t>
            </a: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569CD6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ol</a:t>
            </a:r>
            <a:r>
              <a:rPr kumimoji="0" lang="it-IT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&gt;</a:t>
            </a:r>
            <a:endParaRPr kumimoji="0" lang="it-IT" sz="2700" b="0" i="0" u="none" strike="noStrike" kern="0" cap="none" spc="0" normalizeH="0" baseline="0" noProof="0" dirty="0">
              <a:ln>
                <a:noFill/>
              </a:ln>
              <a:solidFill>
                <a:srgbClr val="D4D4D4"/>
              </a:solidFill>
              <a:effectLst/>
              <a:uLnTx/>
              <a:uFillTx/>
              <a:latin typeface="Consolas" panose="020B0609020204030204" pitchFamily="49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06552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  <p:bldP spid="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82289CE-B960-EEDA-377E-82719C37254C}"/>
              </a:ext>
            </a:extLst>
          </p:cNvPr>
          <p:cNvSpPr/>
          <p:nvPr/>
        </p:nvSpPr>
        <p:spPr>
          <a:xfrm>
            <a:off x="512618" y="1302327"/>
            <a:ext cx="8104909" cy="334587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The List Elements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62ADD2D-F1DF-C59D-BA4C-8766F4E277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2738" y="1490424"/>
            <a:ext cx="4877481" cy="2838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5485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0000" y="161006"/>
            <a:ext cx="7704000" cy="572700"/>
          </a:xfrm>
        </p:spPr>
        <p:txBody>
          <a:bodyPr anchor="ctr"/>
          <a:lstStyle/>
          <a:p>
            <a:r>
              <a:rPr lang="en-US" dirty="0">
                <a:solidFill>
                  <a:schemeClr val="bg1"/>
                </a:solidFill>
              </a:rPr>
              <a:t>List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152475"/>
            <a:ext cx="9144000" cy="3416400"/>
          </a:xfrm>
        </p:spPr>
        <p:txBody>
          <a:bodyPr anchor="ctr">
            <a:noAutofit/>
          </a:bodyPr>
          <a:lstStyle/>
          <a:p>
            <a:pPr marL="42863" indent="0" algn="ctr">
              <a:buNone/>
            </a:pPr>
            <a:r>
              <a:rPr lang="en-US" sz="2400" b="1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https://jsfiddle.net/5fmw3dL8/</a:t>
            </a:r>
            <a:endParaRPr lang="en-US" sz="2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7866773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23D7ADC-B456-4174-914A-1C733DC15F8B}"/>
              </a:ext>
            </a:extLst>
          </p:cNvPr>
          <p:cNvSpPr/>
          <p:nvPr/>
        </p:nvSpPr>
        <p:spPr>
          <a:xfrm>
            <a:off x="512618" y="1302327"/>
            <a:ext cx="8104909" cy="334587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>
                <a:solidFill>
                  <a:schemeClr val="tx1"/>
                </a:solidFill>
              </a:rPr>
              <a:t>The </a:t>
            </a:r>
            <a:r>
              <a:rPr lang="en-US" sz="3000" dirty="0">
                <a:solidFill>
                  <a:schemeClr val="tx1"/>
                </a:solidFill>
                <a:latin typeface="Consolas" panose="020B0609020204030204" pitchFamily="49" charset="0"/>
              </a:rPr>
              <a:t>&lt;input&gt;</a:t>
            </a:r>
            <a:r>
              <a:rPr lang="en-US" dirty="0">
                <a:solidFill>
                  <a:schemeClr val="tx1"/>
                </a:solidFill>
              </a:rPr>
              <a:t> Element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720000" y="1351850"/>
            <a:ext cx="2556600" cy="3251700"/>
          </a:xfrm>
        </p:spPr>
        <p:txBody>
          <a:bodyPr>
            <a:noAutofit/>
          </a:bodyPr>
          <a:lstStyle/>
          <a:p>
            <a:pPr marL="152400" indent="0">
              <a:buNone/>
            </a:pPr>
            <a:r>
              <a:rPr lang="en-US" sz="28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input</a:t>
            </a:r>
            <a:r>
              <a:rPr lang="en-US" dirty="0">
                <a:solidFill>
                  <a:schemeClr val="bg1"/>
                </a:solidFill>
              </a:rPr>
              <a:t>s</a:t>
            </a:r>
            <a:r>
              <a:rPr lang="en-US" sz="1600" dirty="0">
                <a:solidFill>
                  <a:schemeClr val="bg1"/>
                </a:solidFill>
              </a:rPr>
              <a:t> are interactive controls that accept data from the user</a:t>
            </a:r>
          </a:p>
          <a:p>
            <a:pPr marL="152400" indent="0">
              <a:buNone/>
            </a:pPr>
            <a:endParaRPr lang="en-US" sz="1600" dirty="0">
              <a:solidFill>
                <a:schemeClr val="bg1"/>
              </a:solidFill>
            </a:endParaRPr>
          </a:p>
          <a:p>
            <a:pPr marL="15240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The </a:t>
            </a:r>
            <a:r>
              <a:rPr lang="en-US" sz="28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type</a:t>
            </a:r>
            <a:r>
              <a:rPr lang="en-US" sz="1600" dirty="0">
                <a:solidFill>
                  <a:schemeClr val="bg1"/>
                </a:solidFill>
              </a:rPr>
              <a:t> attribute determines how it appears</a:t>
            </a:r>
          </a:p>
          <a:p>
            <a:pPr marL="152400" indent="0">
              <a:buNone/>
            </a:pPr>
            <a:endParaRPr lang="en-US" sz="1600" dirty="0">
              <a:solidFill>
                <a:schemeClr val="bg1"/>
              </a:solidFill>
            </a:endParaRPr>
          </a:p>
          <a:p>
            <a:pPr marL="15240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It is a </a:t>
            </a:r>
            <a:r>
              <a:rPr lang="en-US" sz="1600" i="1" dirty="0">
                <a:solidFill>
                  <a:schemeClr val="bg1"/>
                </a:solidFill>
              </a:rPr>
              <a:t>self-closing tag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594" y="1554154"/>
            <a:ext cx="5045933" cy="2714589"/>
          </a:xfrm>
          <a:prstGeom prst="rect">
            <a:avLst/>
          </a:prstGeom>
          <a:noFill/>
        </p:spPr>
        <p:txBody>
          <a:bodyPr wrap="none" lIns="137160" tIns="109728" rIns="137160" bIns="109728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&lt;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569CD6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input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 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9CDCFE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type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=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CE9178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"text"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 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/&gt;</a:t>
            </a:r>
            <a:endParaRPr kumimoji="0" lang="en-US" sz="2700" b="0" i="0" u="none" strike="noStrike" kern="0" cap="none" spc="0" normalizeH="0" baseline="0" noProof="0" dirty="0">
              <a:ln>
                <a:noFill/>
              </a:ln>
              <a:solidFill>
                <a:srgbClr val="D4D4D4"/>
              </a:solidFill>
              <a:effectLst/>
              <a:uLnTx/>
              <a:uFillTx/>
              <a:latin typeface="Consolas" panose="020B0609020204030204" pitchFamily="49" charset="0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&lt;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569CD6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input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 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9CDCFE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type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=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CE9178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"button"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 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/&gt;</a:t>
            </a:r>
            <a:endParaRPr kumimoji="0" lang="en-US" sz="2700" b="0" i="0" u="none" strike="noStrike" kern="0" cap="none" spc="0" normalizeH="0" baseline="0" noProof="0" dirty="0">
              <a:ln>
                <a:noFill/>
              </a:ln>
              <a:solidFill>
                <a:srgbClr val="D4D4D4"/>
              </a:solidFill>
              <a:effectLst/>
              <a:uLnTx/>
              <a:uFillTx/>
              <a:latin typeface="Consolas" panose="020B0609020204030204" pitchFamily="49" charset="0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&lt;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569CD6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input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 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9CDCFE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type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=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CE9178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"radio"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 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/&gt;</a:t>
            </a:r>
            <a:endParaRPr kumimoji="0" lang="en-US" sz="2700" b="0" i="0" u="none" strike="noStrike" kern="0" cap="none" spc="0" normalizeH="0" baseline="0" noProof="0" dirty="0">
              <a:ln>
                <a:noFill/>
              </a:ln>
              <a:solidFill>
                <a:srgbClr val="D4D4D4"/>
              </a:solidFill>
              <a:effectLst/>
              <a:uLnTx/>
              <a:uFillTx/>
              <a:latin typeface="Consolas" panose="020B0609020204030204" pitchFamily="49" charset="0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&lt;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569CD6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input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 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9CDCFE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type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=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CE9178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"checkbox"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 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/&gt;</a:t>
            </a:r>
            <a:endParaRPr kumimoji="0" lang="en-US" sz="2700" b="0" i="0" u="none" strike="noStrike" kern="0" cap="none" spc="0" normalizeH="0" baseline="0" noProof="0" dirty="0">
              <a:ln>
                <a:noFill/>
              </a:ln>
              <a:solidFill>
                <a:srgbClr val="D4D4D4"/>
              </a:solidFill>
              <a:effectLst/>
              <a:uLnTx/>
              <a:uFillTx/>
              <a:latin typeface="Consolas" panose="020B0609020204030204" pitchFamily="49" charset="0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&lt;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569CD6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input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 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9CDCFE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type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=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CE9178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"range"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 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/&gt;</a:t>
            </a:r>
            <a:endParaRPr kumimoji="0" lang="en-US" sz="2700" b="0" i="0" u="none" strike="noStrike" kern="0" cap="none" spc="0" normalizeH="0" baseline="0" noProof="0" dirty="0">
              <a:ln>
                <a:noFill/>
              </a:ln>
              <a:solidFill>
                <a:srgbClr val="D4D4D4"/>
              </a:solidFill>
              <a:effectLst/>
              <a:uLnTx/>
              <a:uFillTx/>
              <a:latin typeface="Consolas" panose="020B0609020204030204" pitchFamily="49" charset="0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&lt;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569CD6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input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 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9CDCFE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type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=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CE9178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"submit"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 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/&gt;</a:t>
            </a:r>
            <a:endParaRPr kumimoji="0" lang="en-US" sz="2700" b="0" i="0" u="none" strike="noStrike" kern="0" cap="none" spc="0" normalizeH="0" baseline="0" noProof="0" dirty="0">
              <a:ln>
                <a:noFill/>
              </a:ln>
              <a:solidFill>
                <a:srgbClr val="D4D4D4"/>
              </a:solidFill>
              <a:effectLst/>
              <a:uLnTx/>
              <a:uFillTx/>
              <a:latin typeface="Consolas" panose="020B0609020204030204" pitchFamily="49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24493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0441792-E61C-AFC9-A29D-3DA72F7B03B2}"/>
              </a:ext>
            </a:extLst>
          </p:cNvPr>
          <p:cNvSpPr/>
          <p:nvPr/>
        </p:nvSpPr>
        <p:spPr>
          <a:xfrm>
            <a:off x="512618" y="1302327"/>
            <a:ext cx="8104909" cy="334587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Special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152400" indent="0">
              <a:buNone/>
            </a:pPr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&lt;</a:t>
            </a:r>
            <a:r>
              <a:rPr lang="en-US" sz="2400" b="1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textarea</a:t>
            </a:r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&gt;&lt;/</a:t>
            </a:r>
            <a:r>
              <a:rPr lang="en-US" sz="2400" b="1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textarea</a:t>
            </a:r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&gt;</a:t>
            </a:r>
            <a:r>
              <a:rPr lang="en-US" sz="1400" dirty="0">
                <a:solidFill>
                  <a:schemeClr val="bg1"/>
                </a:solidFill>
              </a:rPr>
              <a:t> </a:t>
            </a:r>
            <a:r>
              <a:rPr lang="en-US" sz="1600" dirty="0">
                <a:solidFill>
                  <a:schemeClr val="bg1"/>
                </a:solidFill>
              </a:rPr>
              <a:t>is used to create a multi-line text box</a:t>
            </a:r>
          </a:p>
          <a:p>
            <a:pPr marL="152400" indent="0">
              <a:buNone/>
            </a:pPr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select</a:t>
            </a:r>
            <a:r>
              <a:rPr lang="en-US" sz="1600" dirty="0">
                <a:solidFill>
                  <a:schemeClr val="bg1"/>
                </a:solidFill>
              </a:rPr>
              <a:t> and </a:t>
            </a:r>
            <a:r>
              <a:rPr lang="en-US" sz="2400" b="1" dirty="0">
                <a:solidFill>
                  <a:srgbClr val="54C8E8">
                    <a:lumMod val="60000"/>
                    <a:lumOff val="40000"/>
                  </a:srgbClr>
                </a:solidFill>
                <a:latin typeface="Consolas" panose="020B0609020204030204" pitchFamily="49" charset="0"/>
              </a:rPr>
              <a:t>option</a:t>
            </a:r>
            <a:r>
              <a:rPr lang="en-US" sz="1600" dirty="0">
                <a:solidFill>
                  <a:schemeClr val="bg1"/>
                </a:solidFill>
              </a:rPr>
              <a:t> are used to create a dropdown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3697" y="2450523"/>
            <a:ext cx="6762749" cy="1883593"/>
          </a:xfrm>
          <a:prstGeom prst="rect">
            <a:avLst/>
          </a:prstGeom>
          <a:noFill/>
        </p:spPr>
        <p:txBody>
          <a:bodyPr wrap="none" lIns="137160" tIns="109728" rIns="137160" bIns="109728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&lt;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569CD6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select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&gt;</a:t>
            </a:r>
            <a:endParaRPr kumimoji="0" lang="en-US" sz="2700" b="0" i="0" u="none" strike="noStrike" kern="0" cap="none" spc="0" normalizeH="0" baseline="0" noProof="0" dirty="0">
              <a:ln>
                <a:noFill/>
              </a:ln>
              <a:solidFill>
                <a:srgbClr val="D4D4D4"/>
              </a:solidFill>
              <a:effectLst/>
              <a:uLnTx/>
              <a:uFillTx/>
              <a:latin typeface="Consolas" panose="020B0609020204030204" pitchFamily="49" charset="0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    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&lt;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569CD6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option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 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9CDCFE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value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=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CE9178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"1"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&gt;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One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&lt;/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569CD6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option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&gt;</a:t>
            </a:r>
            <a:endParaRPr kumimoji="0" lang="en-US" sz="2700" b="0" i="0" u="none" strike="noStrike" kern="0" cap="none" spc="0" normalizeH="0" baseline="0" noProof="0" dirty="0">
              <a:ln>
                <a:noFill/>
              </a:ln>
              <a:solidFill>
                <a:srgbClr val="D4D4D4"/>
              </a:solidFill>
              <a:effectLst/>
              <a:uLnTx/>
              <a:uFillTx/>
              <a:latin typeface="Consolas" panose="020B0609020204030204" pitchFamily="49" charset="0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    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&lt;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569CD6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option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 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9CDCFE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value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=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CE9178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"2"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&gt;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D4D4D4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Two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&lt;/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569CD6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option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&gt;</a:t>
            </a:r>
            <a:endParaRPr kumimoji="0" lang="en-US" sz="2700" b="0" i="0" u="none" strike="noStrike" kern="0" cap="none" spc="0" normalizeH="0" baseline="0" noProof="0" dirty="0">
              <a:ln>
                <a:noFill/>
              </a:ln>
              <a:solidFill>
                <a:srgbClr val="D4D4D4"/>
              </a:solidFill>
              <a:effectLst/>
              <a:uLnTx/>
              <a:uFillTx/>
              <a:latin typeface="Consolas" panose="020B0609020204030204" pitchFamily="49" charset="0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&lt;/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569CD6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select</a:t>
            </a:r>
            <a:r>
              <a:rPr kumimoji="0" lang="en-US" sz="2700" b="0" i="0" u="none" strike="noStrike" kern="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&gt;</a:t>
            </a:r>
            <a:endParaRPr kumimoji="0" lang="en-US" sz="2700" b="0" i="0" u="none" strike="noStrike" kern="0" cap="none" spc="0" normalizeH="0" baseline="0" noProof="0" dirty="0">
              <a:ln>
                <a:noFill/>
              </a:ln>
              <a:solidFill>
                <a:srgbClr val="D4D4D4"/>
              </a:solidFill>
              <a:effectLst/>
              <a:uLnTx/>
              <a:uFillTx/>
              <a:latin typeface="Consolas" panose="020B0609020204030204" pitchFamily="49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64805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0000" y="223352"/>
            <a:ext cx="7704000" cy="572700"/>
          </a:xfrm>
        </p:spPr>
        <p:txBody>
          <a:bodyPr anchor="ctr"/>
          <a:lstStyle/>
          <a:p>
            <a:r>
              <a:rPr lang="en-US" dirty="0">
                <a:solidFill>
                  <a:schemeClr val="bg1"/>
                </a:solidFill>
              </a:rPr>
              <a:t>Input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152475"/>
            <a:ext cx="9144000" cy="3416400"/>
          </a:xfrm>
        </p:spPr>
        <p:txBody>
          <a:bodyPr anchor="ctr">
            <a:noAutofit/>
          </a:bodyPr>
          <a:lstStyle/>
          <a:p>
            <a:pPr marL="42863" indent="0" algn="ctr">
              <a:buNone/>
            </a:pPr>
            <a:r>
              <a:rPr lang="en-US" sz="2400" b="1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https://jsfiddle.net/mz7gpx6c/</a:t>
            </a:r>
            <a:endParaRPr lang="en-US" sz="2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0668417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0000" y="167934"/>
            <a:ext cx="7704000" cy="572700"/>
          </a:xfrm>
        </p:spPr>
        <p:txBody>
          <a:bodyPr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Nesting Activity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332004-B2DC-3281-26E7-85182B26A7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897" y="866782"/>
            <a:ext cx="3439071" cy="410878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86DD76F-7397-8EE1-5233-1D2D41E41DF0}"/>
              </a:ext>
            </a:extLst>
          </p:cNvPr>
          <p:cNvSpPr txBox="1"/>
          <p:nvPr/>
        </p:nvSpPr>
        <p:spPr>
          <a:xfrm>
            <a:off x="4082716" y="1018673"/>
            <a:ext cx="32335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>
                <a:solidFill>
                  <a:schemeClr val="bg1"/>
                </a:solidFill>
              </a:rPr>
              <a:t>Things containing things</a:t>
            </a:r>
            <a:endParaRPr lang="en-US" b="1" i="1" dirty="0">
              <a:solidFill>
                <a:schemeClr val="bg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69EE572-06D7-5298-AB23-D8DE906477ED}"/>
              </a:ext>
            </a:extLst>
          </p:cNvPr>
          <p:cNvSpPr/>
          <p:nvPr/>
        </p:nvSpPr>
        <p:spPr>
          <a:xfrm>
            <a:off x="3970422" y="1507958"/>
            <a:ext cx="4981072" cy="338488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ea typeface="Director" pitchFamily="2" charset="0"/>
              </a:rPr>
              <a:t>   &lt;county </a:t>
            </a:r>
            <a:r>
              <a:rPr lang="en-US" sz="2000" dirty="0">
                <a:solidFill>
                  <a:schemeClr val="bg2"/>
                </a:solidFill>
                <a:latin typeface="Consolas" panose="020B0609020204030204" pitchFamily="49" charset="0"/>
                <a:ea typeface="Director" pitchFamily="2" charset="0"/>
              </a:rPr>
              <a:t>name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ea typeface="Director" pitchFamily="2" charset="0"/>
              </a:rPr>
              <a:t>=</a:t>
            </a:r>
            <a:r>
              <a:rPr lang="en-US" sz="20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ea typeface="Director" pitchFamily="2" charset="0"/>
              </a:rPr>
              <a:t>"Cuyahoga"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ea typeface="Director" pitchFamily="2" charset="0"/>
              </a:rPr>
              <a:t>&gt;</a:t>
            </a:r>
          </a:p>
          <a:p>
            <a:endParaRPr lang="en-US" sz="2000" dirty="0">
              <a:solidFill>
                <a:schemeClr val="tx1"/>
              </a:solidFill>
              <a:latin typeface="Consolas" panose="020B0609020204030204" pitchFamily="49" charset="0"/>
              <a:ea typeface="Director" pitchFamily="2" charset="0"/>
            </a:endParaRPr>
          </a:p>
          <a:p>
            <a:endParaRPr lang="en-US" sz="2000" dirty="0">
              <a:solidFill>
                <a:schemeClr val="tx1"/>
              </a:solidFill>
              <a:latin typeface="Consolas" panose="020B0609020204030204" pitchFamily="49" charset="0"/>
              <a:ea typeface="Director" pitchFamily="2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ea typeface="Director" pitchFamily="2" charset="0"/>
              </a:rPr>
              <a:t>   &lt;/county&gt;</a:t>
            </a:r>
          </a:p>
        </p:txBody>
      </p:sp>
    </p:spTree>
    <p:extLst>
      <p:ext uri="{BB962C8B-B14F-4D97-AF65-F5344CB8AC3E}">
        <p14:creationId xmlns:p14="http://schemas.microsoft.com/office/powerpoint/2010/main" val="134520867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Tables</a:t>
            </a:r>
          </a:p>
        </p:txBody>
      </p:sp>
      <p:pic>
        <p:nvPicPr>
          <p:cNvPr id="1026" name="Picture 2" descr="Image result for several tables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6481"/>
          <a:stretch/>
        </p:blipFill>
        <p:spPr bwMode="auto">
          <a:xfrm>
            <a:off x="3886200" y="-9023"/>
            <a:ext cx="5257800" cy="51525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9235405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2400" indent="0">
              <a:buNone/>
            </a:pPr>
            <a:r>
              <a:rPr lang="en-US" sz="1800" i="1" dirty="0"/>
              <a:t>What type of data could be displayed in a table?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4509" y="1985674"/>
            <a:ext cx="7134250" cy="16053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73827" y="3925166"/>
            <a:ext cx="5396345" cy="714042"/>
          </a:xfrm>
          <a:prstGeom prst="rect">
            <a:avLst/>
          </a:prstGeom>
          <a:noFill/>
        </p:spPr>
        <p:txBody>
          <a:bodyPr wrap="square" lIns="137160" tIns="109728" rIns="137160" bIns="109728" rtlCol="0">
            <a:spAutoFit/>
          </a:bodyPr>
          <a:lstStyle/>
          <a:p>
            <a:pPr marL="42862" algn="ctr">
              <a:spcAft>
                <a:spcPts val="900"/>
              </a:spcAft>
              <a:buClr>
                <a:srgbClr val="98989A"/>
              </a:buClr>
            </a:pPr>
            <a:r>
              <a:rPr lang="en-US" sz="3200" b="1" dirty="0">
                <a:solidFill>
                  <a:schemeClr val="tx1"/>
                </a:solidFill>
                <a:latin typeface="Miriam Libre" panose="00000500000000000000" pitchFamily="2" charset="-79"/>
                <a:cs typeface="Miriam Libre" panose="00000500000000000000" pitchFamily="2" charset="-79"/>
              </a:rPr>
              <a:t>Information about birds</a:t>
            </a:r>
          </a:p>
        </p:txBody>
      </p:sp>
    </p:spTree>
    <p:extLst>
      <p:ext uri="{BB962C8B-B14F-4D97-AF65-F5344CB8AC3E}">
        <p14:creationId xmlns:p14="http://schemas.microsoft.com/office/powerpoint/2010/main" val="3492411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42863" indent="0">
              <a:buNone/>
            </a:pPr>
            <a:r>
              <a:rPr lang="en-US" i="1" dirty="0"/>
              <a:t>HTML Tables consist of several nested elements:</a:t>
            </a:r>
          </a:p>
          <a:p>
            <a:pPr marL="42863" indent="0">
              <a:buNone/>
            </a:pPr>
            <a:r>
              <a:rPr lang="en-US" sz="2400" b="1" dirty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table</a:t>
            </a:r>
            <a:r>
              <a:rPr lang="en-US" sz="1600" dirty="0"/>
              <a:t>: the primary element in a table, contains all other elements</a:t>
            </a:r>
            <a:endParaRPr lang="en-US" dirty="0"/>
          </a:p>
          <a:p>
            <a:pPr marL="42863" indent="0">
              <a:buNone/>
            </a:pPr>
            <a:r>
              <a:rPr lang="en-US" sz="2400" b="1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tr</a:t>
            </a:r>
            <a:r>
              <a:rPr lang="en-US" sz="1600" dirty="0"/>
              <a:t>: a </a:t>
            </a:r>
            <a:r>
              <a:rPr lang="en-US" sz="1600" i="1" dirty="0"/>
              <a:t>row</a:t>
            </a:r>
            <a:r>
              <a:rPr lang="en-US" sz="1600" dirty="0"/>
              <a:t> in the table</a:t>
            </a:r>
            <a:endParaRPr lang="en-US" sz="1600" b="1" dirty="0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2863" indent="0">
              <a:buNone/>
            </a:pPr>
            <a:r>
              <a:rPr lang="en-US" sz="2400" b="1" dirty="0" err="1">
                <a:solidFill>
                  <a:srgbClr val="FF8300"/>
                </a:solidFill>
                <a:latin typeface="Consolas" panose="020B0609020204030204" pitchFamily="49" charset="0"/>
              </a:rPr>
              <a:t>th</a:t>
            </a:r>
            <a:r>
              <a:rPr lang="en-US" sz="1600" dirty="0"/>
              <a:t>: a </a:t>
            </a:r>
            <a:r>
              <a:rPr lang="en-US" sz="1600" i="1" dirty="0"/>
              <a:t>header cell</a:t>
            </a:r>
            <a:r>
              <a:rPr lang="en-US" sz="1600" dirty="0"/>
              <a:t> in the table</a:t>
            </a:r>
            <a:endParaRPr lang="en-US" sz="1600" b="1" dirty="0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2863" indent="0">
              <a:buNone/>
            </a:pPr>
            <a:r>
              <a:rPr lang="en-US" sz="2400" b="1" dirty="0">
                <a:solidFill>
                  <a:srgbClr val="E95EBE"/>
                </a:solidFill>
                <a:latin typeface="Consolas" panose="020B0609020204030204" pitchFamily="49" charset="0"/>
              </a:rPr>
              <a:t>td</a:t>
            </a:r>
            <a:r>
              <a:rPr lang="en-US" sz="1600" dirty="0"/>
              <a:t>: a </a:t>
            </a:r>
            <a:r>
              <a:rPr lang="en-US" sz="1600" i="1" dirty="0"/>
              <a:t>normal cell</a:t>
            </a:r>
            <a:r>
              <a:rPr lang="en-US" sz="1600" dirty="0"/>
              <a:t> in the table</a:t>
            </a:r>
            <a:endParaRPr lang="en-US" b="1" dirty="0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A97C71E-A23A-42B9-9137-B0C6F092A1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072" y="3219244"/>
            <a:ext cx="6151855" cy="138430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2865F2E-D2A2-4655-9BD6-029692C741FB}"/>
              </a:ext>
            </a:extLst>
          </p:cNvPr>
          <p:cNvSpPr/>
          <p:nvPr/>
        </p:nvSpPr>
        <p:spPr bwMode="auto">
          <a:xfrm>
            <a:off x="1392381" y="3282088"/>
            <a:ext cx="6255545" cy="1269129"/>
          </a:xfrm>
          <a:prstGeom prst="rect">
            <a:avLst/>
          </a:prstGeom>
          <a:noFill/>
          <a:ln w="50800">
            <a:solidFill>
              <a:schemeClr val="accent2"/>
            </a:solidFill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160" tIns="109728" rIns="137160" bIns="1097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699354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099D6C-6567-4C58-BA2F-CD078BC47DA5}"/>
              </a:ext>
            </a:extLst>
          </p:cNvPr>
          <p:cNvSpPr/>
          <p:nvPr/>
        </p:nvSpPr>
        <p:spPr bwMode="auto">
          <a:xfrm>
            <a:off x="1392380" y="3532909"/>
            <a:ext cx="6255545" cy="256309"/>
          </a:xfrm>
          <a:prstGeom prst="rect">
            <a:avLst/>
          </a:prstGeom>
          <a:noFill/>
          <a:ln w="50800">
            <a:solidFill>
              <a:schemeClr val="accent1">
                <a:lumMod val="75000"/>
              </a:schemeClr>
            </a:solidFill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160" tIns="109728" rIns="137160" bIns="1097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699354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5A7812-F97B-4EC5-BB1A-32ADEDE81F25}"/>
              </a:ext>
            </a:extLst>
          </p:cNvPr>
          <p:cNvSpPr/>
          <p:nvPr/>
        </p:nvSpPr>
        <p:spPr bwMode="auto">
          <a:xfrm>
            <a:off x="1392379" y="3276600"/>
            <a:ext cx="1565566" cy="256309"/>
          </a:xfrm>
          <a:prstGeom prst="rect">
            <a:avLst/>
          </a:prstGeom>
          <a:noFill/>
          <a:ln w="50800">
            <a:solidFill>
              <a:srgbClr val="FFC000"/>
            </a:solidFill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160" tIns="109728" rIns="137160" bIns="1097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699354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6B92A4-996F-42D6-BE6F-29427DA51581}"/>
              </a:ext>
            </a:extLst>
          </p:cNvPr>
          <p:cNvSpPr/>
          <p:nvPr/>
        </p:nvSpPr>
        <p:spPr bwMode="auto">
          <a:xfrm>
            <a:off x="6026465" y="3789218"/>
            <a:ext cx="398925" cy="243997"/>
          </a:xfrm>
          <a:prstGeom prst="rect">
            <a:avLst/>
          </a:prstGeom>
          <a:noFill/>
          <a:ln w="50800">
            <a:solidFill>
              <a:srgbClr val="E95EBE"/>
            </a:solidFill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160" tIns="109728" rIns="137160" bIns="1097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699354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026" name="Picture 2" descr="How Bird Classification Works - Birding World">
            <a:extLst>
              <a:ext uri="{FF2B5EF4-FFF2-40B4-BE49-F238E27FC236}">
                <a16:creationId xmlns:a16="http://schemas.microsoft.com/office/drawing/2014/main" id="{4490CBB0-64B6-1C50-9A68-2EC00EC748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4800" y="2064707"/>
            <a:ext cx="1842870" cy="11517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How Bird Classification Works - Birding World">
            <a:extLst>
              <a:ext uri="{FF2B5EF4-FFF2-40B4-BE49-F238E27FC236}">
                <a16:creationId xmlns:a16="http://schemas.microsoft.com/office/drawing/2014/main" id="{160B2BAB-59FD-C1E1-9401-459AE95AA2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7670" y="2064707"/>
            <a:ext cx="1842870" cy="11517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5680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  <p:bldP spid="8" grpId="0" animBg="1"/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0000" y="188715"/>
            <a:ext cx="7704000" cy="580211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Table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152475"/>
            <a:ext cx="9144000" cy="3416400"/>
          </a:xfrm>
        </p:spPr>
        <p:txBody>
          <a:bodyPr anchor="ctr">
            <a:noAutofit/>
          </a:bodyPr>
          <a:lstStyle/>
          <a:p>
            <a:pPr marL="42863" indent="0" algn="ctr">
              <a:buNone/>
            </a:pPr>
            <a:r>
              <a:rPr lang="en-US" sz="2400" b="1" dirty="0">
                <a:solidFill>
                  <a:schemeClr val="bg1"/>
                </a:solidFill>
                <a:highlight>
                  <a:srgbClr val="C0C0C0"/>
                </a:highlight>
                <a:hlinkClick r:id="rId3"/>
              </a:rPr>
              <a:t>https://jsfiddle.net/70jat2m6/</a:t>
            </a:r>
            <a:endParaRPr lang="en-US" sz="2400" b="1" dirty="0">
              <a:solidFill>
                <a:schemeClr val="bg1"/>
              </a:solidFill>
              <a:highlight>
                <a:srgbClr val="C0C0C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297352963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sz="3000" dirty="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border</a:t>
            </a:r>
            <a:r>
              <a:rPr lang="en-US" dirty="0"/>
              <a:t> Attribute</a:t>
            </a:r>
            <a:endParaRPr lang="en-US" dirty="0">
              <a:solidFill>
                <a:schemeClr val="accent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570941" y="1351850"/>
            <a:ext cx="8053513" cy="1342859"/>
          </a:xfrm>
        </p:spPr>
        <p:txBody>
          <a:bodyPr>
            <a:normAutofit/>
          </a:bodyPr>
          <a:lstStyle/>
          <a:p>
            <a:pPr marL="42863" indent="0" algn="ctr">
              <a:buNone/>
            </a:pPr>
            <a:r>
              <a:rPr lang="en-US" sz="4000" dirty="0">
                <a:solidFill>
                  <a:srgbClr val="800000"/>
                </a:solidFill>
                <a:latin typeface="Consolas" panose="020B0609020204030204" pitchFamily="49" charset="0"/>
              </a:rPr>
              <a:t>&lt;table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sz="4000" dirty="0">
                <a:solidFill>
                  <a:srgbClr val="CD3131"/>
                </a:solidFill>
                <a:latin typeface="Consolas" panose="020B0609020204030204" pitchFamily="49" charset="0"/>
              </a:rPr>
              <a:t>border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sz="4000" dirty="0">
                <a:solidFill>
                  <a:srgbClr val="0000FF"/>
                </a:solidFill>
                <a:latin typeface="Consolas" panose="020B0609020204030204" pitchFamily="49" charset="0"/>
              </a:rPr>
              <a:t>"1"</a:t>
            </a:r>
            <a:r>
              <a:rPr lang="en-US" sz="40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4000" dirty="0">
              <a:solidFill>
                <a:srgbClr val="800000"/>
              </a:solidFill>
            </a:endParaRPr>
          </a:p>
          <a:p>
            <a:pPr marL="152400" indent="0" algn="ctr">
              <a:buNone/>
            </a:pPr>
            <a:endParaRPr lang="en-US" sz="1050" dirty="0"/>
          </a:p>
          <a:p>
            <a:pPr marL="152400" indent="0" algn="ctr">
              <a:buNone/>
            </a:pPr>
            <a:r>
              <a:rPr lang="en-US" sz="2400" dirty="0"/>
              <a:t>Set the </a:t>
            </a:r>
            <a:r>
              <a:rPr lang="en-US" sz="2400" b="1" dirty="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border</a:t>
            </a:r>
            <a:r>
              <a:rPr lang="en-US" sz="2400" dirty="0"/>
              <a:t> attribute to </a:t>
            </a:r>
            <a:r>
              <a:rPr lang="en-US" sz="2400" b="1" dirty="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en-US" sz="2400" dirty="0"/>
              <a:t> to add a border</a:t>
            </a:r>
            <a:endParaRPr lang="en-US" sz="2400" dirty="0">
              <a:solidFill>
                <a:srgbClr val="800000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941" y="2694709"/>
            <a:ext cx="8002117" cy="1893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727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dirty="0" err="1">
                <a:solidFill>
                  <a:schemeClr val="bg1"/>
                </a:solidFill>
              </a:rPr>
              <a:t>IFrames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2050" name="Picture 2" descr="Image result for frame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86200" y="0"/>
            <a:ext cx="5257800" cy="5257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11371559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sz="3000" dirty="0">
                <a:solidFill>
                  <a:srgbClr val="54C8E8">
                    <a:lumMod val="50000"/>
                  </a:srgbClr>
                </a:solidFill>
                <a:latin typeface="Consolas" panose="020B0609020204030204" pitchFamily="49" charset="0"/>
              </a:rPr>
              <a:t>&lt;</a:t>
            </a:r>
            <a:r>
              <a:rPr lang="en-US" sz="3000" dirty="0" err="1">
                <a:solidFill>
                  <a:srgbClr val="54C8E8">
                    <a:lumMod val="50000"/>
                  </a:srgbClr>
                </a:solidFill>
                <a:latin typeface="Consolas" panose="020B0609020204030204" pitchFamily="49" charset="0"/>
              </a:rPr>
              <a:t>iframe</a:t>
            </a:r>
            <a:r>
              <a:rPr lang="en-US" sz="3000" dirty="0">
                <a:solidFill>
                  <a:srgbClr val="54C8E8">
                    <a:lumMod val="50000"/>
                  </a:srgbClr>
                </a:solidFill>
                <a:latin typeface="Consolas" panose="020B0609020204030204" pitchFamily="49" charset="0"/>
              </a:rPr>
              <a:t>&gt;</a:t>
            </a:r>
            <a:r>
              <a:rPr lang="en-US" dirty="0"/>
              <a:t> Element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91836" y="1351849"/>
            <a:ext cx="8153400" cy="3346625"/>
          </a:xfrm>
        </p:spPr>
        <p:txBody>
          <a:bodyPr>
            <a:normAutofit/>
          </a:bodyPr>
          <a:lstStyle/>
          <a:p>
            <a:pPr marL="152400" indent="0">
              <a:buNone/>
            </a:pPr>
            <a:r>
              <a:rPr lang="en-US" sz="1800" dirty="0"/>
              <a:t>The </a:t>
            </a:r>
            <a:r>
              <a:rPr lang="en-US" sz="1800" b="1" dirty="0"/>
              <a:t>Inline Frame</a:t>
            </a:r>
            <a:r>
              <a:rPr lang="en-US" sz="1800" dirty="0"/>
              <a:t> element represents a nested browsing context, embedding another HTML page into the current one</a:t>
            </a:r>
          </a:p>
          <a:p>
            <a:endParaRPr lang="en-US" sz="1800" dirty="0"/>
          </a:p>
          <a:p>
            <a:pPr marL="152400" indent="0">
              <a:buNone/>
            </a:pPr>
            <a:r>
              <a:rPr lang="en-US" sz="1800" dirty="0"/>
              <a:t>Basically, you can display other webpages </a:t>
            </a:r>
            <a:r>
              <a:rPr lang="en-US" sz="1800" i="1" dirty="0"/>
              <a:t>within</a:t>
            </a:r>
            <a:r>
              <a:rPr lang="en-US" sz="1800" dirty="0"/>
              <a:t> your webpage</a:t>
            </a:r>
          </a:p>
          <a:p>
            <a:endParaRPr lang="en-US" sz="1800" i="1" dirty="0"/>
          </a:p>
          <a:p>
            <a:pPr marL="152400" indent="0">
              <a:buNone/>
            </a:pPr>
            <a:r>
              <a:rPr lang="en-US" sz="1800" dirty="0" err="1"/>
              <a:t>IFrames</a:t>
            </a:r>
            <a:r>
              <a:rPr lang="en-US" sz="1800" dirty="0"/>
              <a:t> use the </a:t>
            </a:r>
            <a:r>
              <a:rPr lang="en-US" sz="2400" b="1" dirty="0" err="1">
                <a:solidFill>
                  <a:schemeClr val="accent4"/>
                </a:solidFill>
                <a:latin typeface="Consolas" panose="020B0609020204030204" pitchFamily="49" charset="0"/>
              </a:rPr>
              <a:t>src</a:t>
            </a:r>
            <a:r>
              <a:rPr lang="en-US" sz="1800" dirty="0"/>
              <a:t> element to determine which webpage to display</a:t>
            </a:r>
          </a:p>
          <a:p>
            <a:pPr marL="609600" lvl="1" indent="0">
              <a:buNone/>
            </a:pPr>
            <a:r>
              <a:rPr lang="en-US" sz="1800" dirty="0"/>
              <a:t>There are also </a:t>
            </a:r>
            <a:r>
              <a:rPr lang="en-US" sz="2400" b="1" dirty="0">
                <a:solidFill>
                  <a:schemeClr val="accent4"/>
                </a:solidFill>
                <a:latin typeface="Consolas" panose="020B0609020204030204" pitchFamily="49" charset="0"/>
              </a:rPr>
              <a:t>height</a:t>
            </a:r>
            <a:r>
              <a:rPr lang="en-US" sz="1800" dirty="0"/>
              <a:t> and </a:t>
            </a:r>
            <a:r>
              <a:rPr lang="en-US" sz="2400" b="1" dirty="0">
                <a:solidFill>
                  <a:schemeClr val="accent4"/>
                </a:solidFill>
                <a:latin typeface="Consolas" panose="020B0609020204030204" pitchFamily="49" charset="0"/>
              </a:rPr>
              <a:t>width</a:t>
            </a:r>
            <a:r>
              <a:rPr lang="en-US" sz="1800" dirty="0"/>
              <a:t> attributes</a:t>
            </a:r>
          </a:p>
          <a:p>
            <a:pPr marL="609600" lvl="1" indent="0">
              <a:buNone/>
            </a:pPr>
            <a:endParaRPr lang="en-US" sz="1800" dirty="0"/>
          </a:p>
          <a:p>
            <a:endParaRPr lang="en-US" dirty="0"/>
          </a:p>
          <a:p>
            <a:pPr marL="42863" indent="0" algn="ctr">
              <a:buNone/>
            </a:pP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&lt;iframe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src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"https://www.google.com"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&gt;&lt;/iframe&gt;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11541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7436" y="174861"/>
            <a:ext cx="7704000" cy="572700"/>
          </a:xfrm>
        </p:spPr>
        <p:txBody>
          <a:bodyPr/>
          <a:lstStyle/>
          <a:p>
            <a:r>
              <a:rPr lang="en-US" dirty="0" err="1">
                <a:solidFill>
                  <a:schemeClr val="bg1"/>
                </a:solidFill>
              </a:rPr>
              <a:t>IFrame</a:t>
            </a:r>
            <a:r>
              <a:rPr lang="en-US" dirty="0">
                <a:solidFill>
                  <a:schemeClr val="bg1"/>
                </a:solidFill>
              </a:rPr>
              <a:t>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2285400"/>
            <a:ext cx="9144000" cy="572700"/>
          </a:xfrm>
        </p:spPr>
        <p:txBody>
          <a:bodyPr anchor="ctr">
            <a:noAutofit/>
          </a:bodyPr>
          <a:lstStyle/>
          <a:p>
            <a:pPr marL="42863" indent="0" algn="ctr">
              <a:buNone/>
            </a:pPr>
            <a:r>
              <a:rPr lang="en-US" sz="2400" b="1" dirty="0">
                <a:solidFill>
                  <a:schemeClr val="bg1"/>
                </a:solidFill>
                <a:highlight>
                  <a:srgbClr val="C0C0C0"/>
                </a:highlight>
                <a:hlinkClick r:id="rId3"/>
              </a:rPr>
              <a:t>https://jsfiddle.net/atg9vohw/</a:t>
            </a:r>
            <a:endParaRPr lang="en-US" sz="2400" b="1" dirty="0">
              <a:solidFill>
                <a:schemeClr val="bg1"/>
              </a:solidFill>
              <a:highlight>
                <a:srgbClr val="C0C0C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564811066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3" name="Google Shape;1503;p54"/>
          <p:cNvSpPr txBox="1">
            <a:spLocks noGrp="1"/>
          </p:cNvSpPr>
          <p:nvPr>
            <p:ph type="subTitle" idx="1"/>
          </p:nvPr>
        </p:nvSpPr>
        <p:spPr>
          <a:xfrm>
            <a:off x="720000" y="1824225"/>
            <a:ext cx="5650200" cy="37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 YOU HAVE ANY QUESTIONS?</a:t>
            </a:r>
            <a:endParaRPr/>
          </a:p>
        </p:txBody>
      </p:sp>
      <p:sp>
        <p:nvSpPr>
          <p:cNvPr id="1504" name="Google Shape;1504;p54"/>
          <p:cNvSpPr txBox="1">
            <a:spLocks noGrp="1"/>
          </p:cNvSpPr>
          <p:nvPr>
            <p:ph type="ctrTitle"/>
          </p:nvPr>
        </p:nvSpPr>
        <p:spPr>
          <a:xfrm>
            <a:off x="720000" y="1049325"/>
            <a:ext cx="5650200" cy="77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THANKS!</a:t>
            </a:r>
            <a:endParaRPr/>
          </a:p>
        </p:txBody>
      </p:sp>
      <p:sp>
        <p:nvSpPr>
          <p:cNvPr id="1542" name="Google Shape;1542;p54"/>
          <p:cNvSpPr/>
          <p:nvPr/>
        </p:nvSpPr>
        <p:spPr>
          <a:xfrm>
            <a:off x="570050" y="3746300"/>
            <a:ext cx="939600" cy="939600"/>
          </a:xfrm>
          <a:prstGeom prst="snip1Rect">
            <a:avLst>
              <a:gd name="adj" fmla="val 11329"/>
            </a:avLst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3" name="Google Shape;1543;p54"/>
          <p:cNvSpPr/>
          <p:nvPr/>
        </p:nvSpPr>
        <p:spPr>
          <a:xfrm>
            <a:off x="490150" y="3665400"/>
            <a:ext cx="939600" cy="939600"/>
          </a:xfrm>
          <a:prstGeom prst="snip1Rect">
            <a:avLst>
              <a:gd name="adj" fmla="val 11329"/>
            </a:avLst>
          </a:prstGeom>
          <a:solidFill>
            <a:schemeClr val="accen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4" name="Google Shape;1544;p54"/>
          <p:cNvSpPr/>
          <p:nvPr/>
        </p:nvSpPr>
        <p:spPr>
          <a:xfrm>
            <a:off x="1708675" y="3746300"/>
            <a:ext cx="939600" cy="939600"/>
          </a:xfrm>
          <a:prstGeom prst="snip1Rect">
            <a:avLst>
              <a:gd name="adj" fmla="val 11329"/>
            </a:avLst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5" name="Google Shape;1545;p54"/>
          <p:cNvSpPr/>
          <p:nvPr/>
        </p:nvSpPr>
        <p:spPr>
          <a:xfrm>
            <a:off x="1628775" y="3665400"/>
            <a:ext cx="939600" cy="939600"/>
          </a:xfrm>
          <a:prstGeom prst="snip1Rect">
            <a:avLst>
              <a:gd name="adj" fmla="val 11329"/>
            </a:avLst>
          </a:prstGeom>
          <a:solidFill>
            <a:schemeClr val="accen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6" name="Google Shape;1546;p54"/>
          <p:cNvSpPr/>
          <p:nvPr/>
        </p:nvSpPr>
        <p:spPr>
          <a:xfrm>
            <a:off x="2847300" y="3746300"/>
            <a:ext cx="939600" cy="939600"/>
          </a:xfrm>
          <a:prstGeom prst="snip1Rect">
            <a:avLst>
              <a:gd name="adj" fmla="val 11329"/>
            </a:avLst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7" name="Google Shape;1547;p54"/>
          <p:cNvSpPr/>
          <p:nvPr/>
        </p:nvSpPr>
        <p:spPr>
          <a:xfrm>
            <a:off x="2767400" y="3665400"/>
            <a:ext cx="939600" cy="939600"/>
          </a:xfrm>
          <a:prstGeom prst="snip1Rect">
            <a:avLst>
              <a:gd name="adj" fmla="val 11329"/>
            </a:avLst>
          </a:prstGeom>
          <a:solidFill>
            <a:schemeClr val="lt2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694C185-2733-82A6-CD26-B6BB946D14B6}"/>
              </a:ext>
            </a:extLst>
          </p:cNvPr>
          <p:cNvSpPr/>
          <p:nvPr/>
        </p:nvSpPr>
        <p:spPr>
          <a:xfrm>
            <a:off x="4211782" y="3837709"/>
            <a:ext cx="4253345" cy="4779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ue Grid Interface &amp; Sticky Notes Company Profile by Slidesgo">
  <a:themeElements>
    <a:clrScheme name="Simple Light">
      <a:dk1>
        <a:srgbClr val="000000"/>
      </a:dk1>
      <a:lt1>
        <a:srgbClr val="FFFFFF"/>
      </a:lt1>
      <a:dk2>
        <a:srgbClr val="AA2FE6"/>
      </a:dk2>
      <a:lt2>
        <a:srgbClr val="FF7ACD"/>
      </a:lt2>
      <a:accent1>
        <a:srgbClr val="FFA27A"/>
      </a:accent1>
      <a:accent2>
        <a:srgbClr val="FFDF6D"/>
      </a:accent2>
      <a:accent3>
        <a:srgbClr val="8FFFC1"/>
      </a:accent3>
      <a:accent4>
        <a:srgbClr val="24069D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851</Words>
  <Application>Microsoft Office PowerPoint</Application>
  <PresentationFormat>On-screen Show (16:9)</PresentationFormat>
  <Paragraphs>133</Paragraphs>
  <Slides>17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5" baseType="lpstr">
      <vt:lpstr>Wingdings</vt:lpstr>
      <vt:lpstr>Roboto Condensed Light</vt:lpstr>
      <vt:lpstr>Consolas</vt:lpstr>
      <vt:lpstr>Krona One</vt:lpstr>
      <vt:lpstr>Miriam Libre</vt:lpstr>
      <vt:lpstr>Segoe UI</vt:lpstr>
      <vt:lpstr>Arial</vt:lpstr>
      <vt:lpstr>Blue Grid Interface &amp; Sticky Notes Company Profile by Slidesgo</vt:lpstr>
      <vt:lpstr>Tables &amp; IFrames</vt:lpstr>
      <vt:lpstr>The List Elements</vt:lpstr>
      <vt:lpstr>The List Elements</vt:lpstr>
      <vt:lpstr>List Example</vt:lpstr>
      <vt:lpstr>The &lt;input&gt; Element</vt:lpstr>
      <vt:lpstr>Special Inputs</vt:lpstr>
      <vt:lpstr>Input Examples</vt:lpstr>
      <vt:lpstr>Nesting Activity</vt:lpstr>
      <vt:lpstr>Tables</vt:lpstr>
      <vt:lpstr>HTML Tables</vt:lpstr>
      <vt:lpstr>Table Elements</vt:lpstr>
      <vt:lpstr>Table Example</vt:lpstr>
      <vt:lpstr>The border Attribute</vt:lpstr>
      <vt:lpstr>IFrames</vt:lpstr>
      <vt:lpstr>The &lt;iframe&gt; Element</vt:lpstr>
      <vt:lpstr>IFrame Example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Hello HTML!</dc:title>
  <cp:lastModifiedBy>Joseph Maxwell</cp:lastModifiedBy>
  <cp:revision>10</cp:revision>
  <dcterms:modified xsi:type="dcterms:W3CDTF">2026-01-30T18:20:36Z</dcterms:modified>
</cp:coreProperties>
</file>