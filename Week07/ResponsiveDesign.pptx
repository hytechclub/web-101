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14"/>
  </p:notesMasterIdLst>
  <p:sldIdLst>
    <p:sldId id="256" r:id="rId2"/>
    <p:sldId id="307" r:id="rId3"/>
    <p:sldId id="308" r:id="rId4"/>
    <p:sldId id="309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279" r:id="rId13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Krona One" panose="020B0604020202020204" charset="0"/>
      <p:regular r:id="rId19"/>
    </p:embeddedFont>
    <p:embeddedFont>
      <p:font typeface="Miriam Libre" panose="00000500000000000000" pitchFamily="2" charset="-79"/>
      <p:regular r:id="rId20"/>
      <p:bold r:id="rId21"/>
    </p:embeddedFont>
    <p:embeddedFont>
      <p:font typeface="Roboto Condensed Light" panose="02000000000000000000" pitchFamily="2" charset="0"/>
      <p:regular r:id="rId22"/>
      <p:italic r:id="rId23"/>
    </p:embeddedFont>
    <p:embeddedFont>
      <p:font typeface="Segoe UI" panose="020B0502040204020203" pitchFamily="3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64A8121-69E1-4132-A0E2-CE15BAFBFB63}">
  <a:tblStyle styleId="{864A8121-69E1-4132-A0E2-CE15BAFBFB6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50">
              <a:solidFill>
                <a:srgbClr val="5F7D9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</a:t>
            </a:r>
            <a:r>
              <a:rPr lang="en-US" baseline="0" dirty="0"/>
              <a:t> students which devices they use to visit websites.</a:t>
            </a:r>
          </a:p>
          <a:p>
            <a:endParaRPr lang="en-US" baseline="0" dirty="0"/>
          </a:p>
          <a:p>
            <a:r>
              <a:rPr lang="en-US" baseline="0" dirty="0"/>
              <a:t>Explain that more and more, web developers have to account for people using a variety of different devices to view information on the web.</a:t>
            </a:r>
          </a:p>
          <a:p>
            <a:endParaRPr lang="en-US" baseline="0" dirty="0"/>
          </a:p>
          <a:p>
            <a:r>
              <a:rPr lang="en-US" b="0" baseline="0" dirty="0"/>
              <a:t>Show the definition of </a:t>
            </a:r>
            <a:r>
              <a:rPr lang="en-US" b="1" baseline="0" dirty="0"/>
              <a:t>responsive web design</a:t>
            </a:r>
            <a:r>
              <a:rPr lang="en-US" b="0" baseline="0" dirty="0"/>
              <a:t>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5531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Open the websites</a:t>
            </a:r>
            <a:r>
              <a:rPr lang="en-US" baseline="0" dirty="0"/>
              <a:t> and show them in desktop and mobile modes.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In mobile mode, Wikipedia feels like a desktop website, and it is not easy to read everything on the screen. National Geographic feels like a mobile app!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4164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percentage-based property</a:t>
            </a:r>
            <a:r>
              <a:rPr lang="en-US" baseline="0" dirty="0"/>
              <a:t> values, explain that the image’s width value will be 50% of the parent’s width.</a:t>
            </a:r>
          </a:p>
          <a:p>
            <a:endParaRPr lang="en-US" baseline="0" dirty="0"/>
          </a:p>
          <a:p>
            <a:r>
              <a:rPr lang="en-US" baseline="0" dirty="0"/>
              <a:t>For media queries, explain that wrapping a CSS ruleset in the query will mean it only applies if the condition is met. In this example, the </a:t>
            </a:r>
            <a:r>
              <a:rPr lang="en-US" b="1" baseline="0" dirty="0"/>
              <a:t>.grid</a:t>
            </a:r>
            <a:r>
              <a:rPr lang="en-US" b="0" baseline="0" dirty="0"/>
              <a:t> ruleset will only apply if the screen has </a:t>
            </a:r>
            <a:r>
              <a:rPr lang="en-US" b="0" i="1" baseline="0" dirty="0"/>
              <a:t>less</a:t>
            </a:r>
            <a:r>
              <a:rPr lang="en-US" b="0" baseline="0" dirty="0"/>
              <a:t> than a 600px width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577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View the </a:t>
            </a:r>
            <a:r>
              <a:rPr lang="en-US" dirty="0" err="1"/>
              <a:t>Repl</a:t>
            </a:r>
            <a:r>
              <a:rPr lang="en-US" baseline="0" dirty="0"/>
              <a:t> and show how it works. Change the size of the viewport to see the image change its size and the grid go from horizontal to vertical.</a:t>
            </a:r>
          </a:p>
          <a:p>
            <a:endParaRPr lang="en-US" baseline="0" dirty="0"/>
          </a:p>
          <a:p>
            <a:r>
              <a:rPr lang="en-US" baseline="0" dirty="0"/>
              <a:t>Allow students </a:t>
            </a:r>
            <a:r>
              <a:rPr lang="en-US" b="1" baseline="0" dirty="0"/>
              <a:t>5 minutes</a:t>
            </a:r>
            <a:r>
              <a:rPr lang="en-US" baseline="0" dirty="0"/>
              <a:t> to work on this.</a:t>
            </a:r>
          </a:p>
          <a:p>
            <a:endParaRPr lang="en-US" baseline="0" dirty="0"/>
          </a:p>
          <a:p>
            <a:r>
              <a:rPr lang="en-US" i="1" baseline="0" dirty="0"/>
              <a:t>Note that these methods for responsive design are not as important, because Bootstrap takes care of a lot of this.</a:t>
            </a:r>
            <a:endParaRPr lang="en-US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6863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a little more</a:t>
            </a:r>
            <a:r>
              <a:rPr lang="en-US" baseline="0" dirty="0"/>
              <a:t> background on the purpose of Bootstrap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7535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Students will not need to remember</a:t>
            </a:r>
            <a:r>
              <a:rPr lang="en-US" baseline="0" dirty="0"/>
              <a:t> </a:t>
            </a:r>
            <a:r>
              <a:rPr lang="en-US" dirty="0"/>
              <a:t>all this stuff – it should be copy/pasted when using bootstrap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7078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lot of classes are built into Bootstrap’s CSS.</a:t>
            </a:r>
            <a:r>
              <a:rPr lang="en-US" baseline="0" dirty="0"/>
              <a:t> All a developer needs to do is add the </a:t>
            </a:r>
            <a:r>
              <a:rPr lang="en-US" b="1" baseline="0" dirty="0"/>
              <a:t>class attribute</a:t>
            </a:r>
            <a:r>
              <a:rPr lang="en-US" b="0" baseline="0" dirty="0"/>
              <a:t> with the given value to an HTML element.</a:t>
            </a:r>
          </a:p>
          <a:p>
            <a:endParaRPr lang="en-US" b="0" baseline="0" dirty="0"/>
          </a:p>
          <a:p>
            <a:r>
              <a:rPr lang="en-US" b="0" baseline="0" dirty="0"/>
              <a:t>More on rows/columns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8778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adding</a:t>
            </a:r>
            <a:r>
              <a:rPr lang="en-US" baseline="0" dirty="0"/>
              <a:t> any of these classes will set the size of a column within a row.</a:t>
            </a:r>
          </a:p>
          <a:p>
            <a:endParaRPr lang="en-US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Every column in a given row has to add</a:t>
            </a:r>
            <a:r>
              <a:rPr lang="en-US" baseline="0" dirty="0"/>
              <a:t> up to 12 total.</a:t>
            </a:r>
          </a:p>
          <a:p>
            <a:endParaRPr lang="en-US" baseline="0" dirty="0"/>
          </a:p>
          <a:p>
            <a:r>
              <a:rPr lang="en-US" baseline="0" dirty="0"/>
              <a:t>For example, the </a:t>
            </a:r>
            <a:r>
              <a:rPr lang="en-US" b="1" baseline="0" dirty="0"/>
              <a:t>col-md-1</a:t>
            </a:r>
            <a:r>
              <a:rPr lang="en-US" b="0" baseline="0" dirty="0"/>
              <a:t> class will set a column to be 1/12 width of the row. The </a:t>
            </a:r>
            <a:r>
              <a:rPr lang="en-US" b="1" baseline="0" dirty="0"/>
              <a:t>col-md-6</a:t>
            </a:r>
            <a:r>
              <a:rPr lang="en-US" b="0" baseline="0" dirty="0"/>
              <a:t> class will set a column to be ½ width of the 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9942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Visit the example site to show Bootstrap</a:t>
            </a:r>
            <a:r>
              <a:rPr lang="en-US" baseline="0" dirty="0"/>
              <a:t> in action.</a:t>
            </a:r>
          </a:p>
          <a:p>
            <a:endParaRPr lang="en-US" baseline="0" dirty="0"/>
          </a:p>
          <a:p>
            <a:r>
              <a:rPr lang="en-US" baseline="0" dirty="0"/>
              <a:t>Ask the students the questions in the list to see if they can guess the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2244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ge30e247bb5_0_429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1" name="Google Shape;1501;ge30e247bb5_0_429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561425" y="622625"/>
            <a:ext cx="8172600" cy="2912100"/>
          </a:xfrm>
          <a:prstGeom prst="rect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561425" y="3746300"/>
            <a:ext cx="4689900" cy="9396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485700" y="540000"/>
            <a:ext cx="8172600" cy="29121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485700" y="3663675"/>
            <a:ext cx="4689900" cy="9396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485700" y="539375"/>
            <a:ext cx="8172600" cy="275400"/>
          </a:xfrm>
          <a:prstGeom prst="rect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720000" y="628925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905925" y="628925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1091850" y="628925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720000" y="1138400"/>
            <a:ext cx="7704000" cy="20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800" b="1">
                <a:latin typeface="Krona One"/>
                <a:ea typeface="Krona One"/>
                <a:cs typeface="Krona One"/>
                <a:sym typeface="Krona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720000" y="3907725"/>
            <a:ext cx="4152600" cy="45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/>
          <p:nvPr/>
        </p:nvSpPr>
        <p:spPr>
          <a:xfrm>
            <a:off x="561425" y="461125"/>
            <a:ext cx="8172600" cy="69120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85700" y="378375"/>
            <a:ext cx="8172600" cy="691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8306050" y="461125"/>
            <a:ext cx="236100" cy="236100"/>
          </a:xfrm>
          <a:prstGeom prst="mathMultiply">
            <a:avLst>
              <a:gd name="adj1" fmla="val 19282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561425" y="1356100"/>
            <a:ext cx="81726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85700" y="1273350"/>
            <a:ext cx="81726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body" idx="1"/>
          </p:nvPr>
        </p:nvSpPr>
        <p:spPr>
          <a:xfrm>
            <a:off x="720000" y="1351850"/>
            <a:ext cx="7704000" cy="32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ITLE_1"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5"/>
          <p:cNvSpPr/>
          <p:nvPr/>
        </p:nvSpPr>
        <p:spPr>
          <a:xfrm>
            <a:off x="561425" y="622625"/>
            <a:ext cx="8172600" cy="2912100"/>
          </a:xfrm>
          <a:prstGeom prst="rect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25"/>
          <p:cNvSpPr/>
          <p:nvPr/>
        </p:nvSpPr>
        <p:spPr>
          <a:xfrm>
            <a:off x="4044125" y="3746300"/>
            <a:ext cx="4689900" cy="9396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25"/>
          <p:cNvSpPr/>
          <p:nvPr/>
        </p:nvSpPr>
        <p:spPr>
          <a:xfrm>
            <a:off x="485700" y="540000"/>
            <a:ext cx="8172600" cy="29121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25"/>
          <p:cNvSpPr/>
          <p:nvPr/>
        </p:nvSpPr>
        <p:spPr>
          <a:xfrm>
            <a:off x="3968400" y="3663675"/>
            <a:ext cx="4689900" cy="9396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25"/>
          <p:cNvSpPr/>
          <p:nvPr/>
        </p:nvSpPr>
        <p:spPr>
          <a:xfrm>
            <a:off x="485700" y="539375"/>
            <a:ext cx="8172600" cy="275400"/>
          </a:xfrm>
          <a:prstGeom prst="rect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25"/>
          <p:cNvSpPr/>
          <p:nvPr/>
        </p:nvSpPr>
        <p:spPr>
          <a:xfrm>
            <a:off x="720000" y="628925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25"/>
          <p:cNvSpPr/>
          <p:nvPr/>
        </p:nvSpPr>
        <p:spPr>
          <a:xfrm>
            <a:off x="905925" y="628925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25"/>
          <p:cNvSpPr/>
          <p:nvPr/>
        </p:nvSpPr>
        <p:spPr>
          <a:xfrm>
            <a:off x="1091850" y="628925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25"/>
          <p:cNvSpPr txBox="1">
            <a:spLocks noGrp="1"/>
          </p:cNvSpPr>
          <p:nvPr>
            <p:ph type="ctrTitle"/>
          </p:nvPr>
        </p:nvSpPr>
        <p:spPr>
          <a:xfrm>
            <a:off x="720000" y="1049325"/>
            <a:ext cx="5650200" cy="77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4600" b="1">
                <a:latin typeface="Krona One"/>
                <a:ea typeface="Krona One"/>
                <a:cs typeface="Krona One"/>
                <a:sym typeface="Kron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95" name="Google Shape;395;p25"/>
          <p:cNvSpPr txBox="1">
            <a:spLocks noGrp="1"/>
          </p:cNvSpPr>
          <p:nvPr>
            <p:ph type="subTitle" idx="1"/>
          </p:nvPr>
        </p:nvSpPr>
        <p:spPr>
          <a:xfrm>
            <a:off x="720000" y="1824225"/>
            <a:ext cx="5650200" cy="3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highlight>
                  <a:schemeClr val="accent3"/>
                </a:highlight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9pPr>
          </a:lstStyle>
          <a:p>
            <a:endParaRPr/>
          </a:p>
        </p:txBody>
      </p:sp>
      <p:sp>
        <p:nvSpPr>
          <p:cNvPr id="396" name="Google Shape;396;p25"/>
          <p:cNvSpPr txBox="1">
            <a:spLocks noGrp="1"/>
          </p:cNvSpPr>
          <p:nvPr>
            <p:ph type="subTitle" idx="2"/>
          </p:nvPr>
        </p:nvSpPr>
        <p:spPr>
          <a:xfrm>
            <a:off x="720000" y="2299125"/>
            <a:ext cx="2762100" cy="8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97" name="Google Shape;397;p25"/>
          <p:cNvSpPr txBox="1"/>
          <p:nvPr/>
        </p:nvSpPr>
        <p:spPr>
          <a:xfrm>
            <a:off x="4202700" y="3883895"/>
            <a:ext cx="42951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rPr>
              <a:t>CREDITS: </a:t>
            </a:r>
            <a:r>
              <a:rPr lang="en" sz="10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rPr>
              <a:t>This presentation template was created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Miriam Libre"/>
                <a:ea typeface="Miriam Libre"/>
                <a:cs typeface="Miriam Libre"/>
                <a:sym typeface="Miriam Libr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rPr>
              <a:t>, including icons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Miriam Libre"/>
                <a:ea typeface="Miriam Libre"/>
                <a:cs typeface="Miriam Libre"/>
                <a:sym typeface="Miriam Libr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rPr>
              <a:t> and infographics &amp; images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Miriam Libre"/>
                <a:ea typeface="Miriam Libre"/>
                <a:cs typeface="Miriam Libre"/>
                <a:sym typeface="Miriam Libr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>
              <a:solidFill>
                <a:schemeClr val="dk1"/>
              </a:solidFill>
              <a:latin typeface="Miriam Libre"/>
              <a:ea typeface="Miriam Libre"/>
              <a:cs typeface="Miriam Libre"/>
              <a:sym typeface="Miriam Libre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2"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6"/>
          <p:cNvSpPr/>
          <p:nvPr/>
        </p:nvSpPr>
        <p:spPr>
          <a:xfrm>
            <a:off x="561425" y="461125"/>
            <a:ext cx="8172600" cy="6912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26"/>
          <p:cNvSpPr/>
          <p:nvPr/>
        </p:nvSpPr>
        <p:spPr>
          <a:xfrm>
            <a:off x="485700" y="378375"/>
            <a:ext cx="8172600" cy="691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26"/>
          <p:cNvSpPr/>
          <p:nvPr/>
        </p:nvSpPr>
        <p:spPr>
          <a:xfrm>
            <a:off x="561425" y="1356100"/>
            <a:ext cx="8172600" cy="341640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26"/>
          <p:cNvSpPr/>
          <p:nvPr/>
        </p:nvSpPr>
        <p:spPr>
          <a:xfrm>
            <a:off x="485700" y="1273350"/>
            <a:ext cx="81726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26"/>
          <p:cNvSpPr/>
          <p:nvPr/>
        </p:nvSpPr>
        <p:spPr>
          <a:xfrm>
            <a:off x="8306050" y="461125"/>
            <a:ext cx="236100" cy="236100"/>
          </a:xfrm>
          <a:prstGeom prst="mathMultiply">
            <a:avLst>
              <a:gd name="adj1" fmla="val 19282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_1"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7"/>
          <p:cNvSpPr/>
          <p:nvPr/>
        </p:nvSpPr>
        <p:spPr>
          <a:xfrm>
            <a:off x="561425" y="1356600"/>
            <a:ext cx="47154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27"/>
          <p:cNvSpPr/>
          <p:nvPr/>
        </p:nvSpPr>
        <p:spPr>
          <a:xfrm>
            <a:off x="485700" y="1273975"/>
            <a:ext cx="47154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27"/>
          <p:cNvSpPr/>
          <p:nvPr/>
        </p:nvSpPr>
        <p:spPr>
          <a:xfrm>
            <a:off x="485700" y="1273350"/>
            <a:ext cx="4715400" cy="275400"/>
          </a:xfrm>
          <a:prstGeom prst="rect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27"/>
          <p:cNvSpPr/>
          <p:nvPr/>
        </p:nvSpPr>
        <p:spPr>
          <a:xfrm>
            <a:off x="720000" y="1362900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27"/>
          <p:cNvSpPr/>
          <p:nvPr/>
        </p:nvSpPr>
        <p:spPr>
          <a:xfrm>
            <a:off x="905925" y="1362900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27"/>
          <p:cNvSpPr/>
          <p:nvPr/>
        </p:nvSpPr>
        <p:spPr>
          <a:xfrm>
            <a:off x="1091850" y="1362900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27"/>
          <p:cNvSpPr/>
          <p:nvPr/>
        </p:nvSpPr>
        <p:spPr>
          <a:xfrm>
            <a:off x="561425" y="461125"/>
            <a:ext cx="8172600" cy="69120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27"/>
          <p:cNvSpPr/>
          <p:nvPr/>
        </p:nvSpPr>
        <p:spPr>
          <a:xfrm>
            <a:off x="485700" y="378375"/>
            <a:ext cx="8172600" cy="691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27"/>
          <p:cNvSpPr/>
          <p:nvPr/>
        </p:nvSpPr>
        <p:spPr>
          <a:xfrm>
            <a:off x="5493300" y="1356600"/>
            <a:ext cx="32406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27"/>
          <p:cNvSpPr/>
          <p:nvPr/>
        </p:nvSpPr>
        <p:spPr>
          <a:xfrm>
            <a:off x="5417575" y="1273975"/>
            <a:ext cx="32406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27"/>
          <p:cNvSpPr/>
          <p:nvPr/>
        </p:nvSpPr>
        <p:spPr>
          <a:xfrm>
            <a:off x="5417575" y="1273350"/>
            <a:ext cx="3240600" cy="2754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27"/>
          <p:cNvSpPr/>
          <p:nvPr/>
        </p:nvSpPr>
        <p:spPr>
          <a:xfrm>
            <a:off x="5651875" y="1362900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27"/>
          <p:cNvSpPr/>
          <p:nvPr/>
        </p:nvSpPr>
        <p:spPr>
          <a:xfrm>
            <a:off x="5837800" y="1362900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7"/>
          <p:cNvSpPr/>
          <p:nvPr/>
        </p:nvSpPr>
        <p:spPr>
          <a:xfrm>
            <a:off x="6023725" y="1362900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2_2"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8"/>
          <p:cNvSpPr/>
          <p:nvPr/>
        </p:nvSpPr>
        <p:spPr>
          <a:xfrm>
            <a:off x="561425" y="1356600"/>
            <a:ext cx="39075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28"/>
          <p:cNvSpPr/>
          <p:nvPr/>
        </p:nvSpPr>
        <p:spPr>
          <a:xfrm>
            <a:off x="485700" y="1273975"/>
            <a:ext cx="39075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28"/>
          <p:cNvSpPr/>
          <p:nvPr/>
        </p:nvSpPr>
        <p:spPr>
          <a:xfrm>
            <a:off x="485700" y="1273350"/>
            <a:ext cx="3907500" cy="275400"/>
          </a:xfrm>
          <a:prstGeom prst="rect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28"/>
          <p:cNvSpPr/>
          <p:nvPr/>
        </p:nvSpPr>
        <p:spPr>
          <a:xfrm>
            <a:off x="720000" y="1362900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28"/>
          <p:cNvSpPr/>
          <p:nvPr/>
        </p:nvSpPr>
        <p:spPr>
          <a:xfrm>
            <a:off x="905925" y="1362900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28"/>
          <p:cNvSpPr/>
          <p:nvPr/>
        </p:nvSpPr>
        <p:spPr>
          <a:xfrm>
            <a:off x="1091850" y="1362900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28"/>
          <p:cNvSpPr/>
          <p:nvPr/>
        </p:nvSpPr>
        <p:spPr>
          <a:xfrm>
            <a:off x="561425" y="461125"/>
            <a:ext cx="8172600" cy="69120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28"/>
          <p:cNvSpPr/>
          <p:nvPr/>
        </p:nvSpPr>
        <p:spPr>
          <a:xfrm>
            <a:off x="485700" y="378375"/>
            <a:ext cx="8172600" cy="691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28"/>
          <p:cNvSpPr/>
          <p:nvPr/>
        </p:nvSpPr>
        <p:spPr>
          <a:xfrm>
            <a:off x="8306050" y="461125"/>
            <a:ext cx="236100" cy="236100"/>
          </a:xfrm>
          <a:prstGeom prst="mathMultiply">
            <a:avLst>
              <a:gd name="adj1" fmla="val 19282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28"/>
          <p:cNvSpPr/>
          <p:nvPr/>
        </p:nvSpPr>
        <p:spPr>
          <a:xfrm>
            <a:off x="4826525" y="1356600"/>
            <a:ext cx="39075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28"/>
          <p:cNvSpPr/>
          <p:nvPr/>
        </p:nvSpPr>
        <p:spPr>
          <a:xfrm>
            <a:off x="4750800" y="1273975"/>
            <a:ext cx="39075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28"/>
          <p:cNvSpPr/>
          <p:nvPr/>
        </p:nvSpPr>
        <p:spPr>
          <a:xfrm>
            <a:off x="4750800" y="1273350"/>
            <a:ext cx="3907500" cy="275400"/>
          </a:xfrm>
          <a:prstGeom prst="rect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28"/>
          <p:cNvSpPr/>
          <p:nvPr/>
        </p:nvSpPr>
        <p:spPr>
          <a:xfrm>
            <a:off x="4985100" y="1362900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28"/>
          <p:cNvSpPr/>
          <p:nvPr/>
        </p:nvSpPr>
        <p:spPr>
          <a:xfrm>
            <a:off x="5171025" y="1362900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28"/>
          <p:cNvSpPr/>
          <p:nvPr/>
        </p:nvSpPr>
        <p:spPr>
          <a:xfrm>
            <a:off x="5356950" y="1362900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 bwMode="auto">
          <a:xfrm>
            <a:off x="8858250" y="0"/>
            <a:ext cx="285750" cy="5143500"/>
          </a:xfrm>
          <a:prstGeom prst="rect">
            <a:avLst/>
          </a:prstGeom>
          <a:gradFill>
            <a:gsLst>
              <a:gs pos="1000">
                <a:schemeClr val="accent2"/>
              </a:gs>
              <a:gs pos="99000">
                <a:schemeClr val="accent1"/>
              </a:gs>
            </a:gsLst>
            <a:lin ang="2700000" scaled="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09728" rIns="137160" bIns="1097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699354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8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F51F5F-9E3D-461E-A9A2-DEAD886C2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ADA06-0604-402E-96FC-C5A696390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684CE-E12F-45BC-9163-59E6D2ABC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279CC-07CA-4AC5-A1AC-1010514EF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0A737-103C-43F6-85F3-E27022DEB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732176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●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○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■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●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○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■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●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○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■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8" r:id="rId3"/>
    <p:sldLayoutId id="2147483671" r:id="rId4"/>
    <p:sldLayoutId id="2147483672" r:id="rId5"/>
    <p:sldLayoutId id="2147483673" r:id="rId6"/>
    <p:sldLayoutId id="2147483674" r:id="rId7"/>
    <p:sldLayoutId id="214748367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Fortnite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nationalgeographic.com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hytop.onrender.com/e/responsive-oregon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v4-alpha.getbootstrap.com/examples/jumbotron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1"/>
          <p:cNvSpPr/>
          <p:nvPr/>
        </p:nvSpPr>
        <p:spPr>
          <a:xfrm>
            <a:off x="5517175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31"/>
          <p:cNvSpPr txBox="1">
            <a:spLocks noGrp="1"/>
          </p:cNvSpPr>
          <p:nvPr>
            <p:ph type="ctrTitle"/>
          </p:nvPr>
        </p:nvSpPr>
        <p:spPr>
          <a:xfrm>
            <a:off x="720000" y="1138400"/>
            <a:ext cx="7704000" cy="20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>
                <a:highlight>
                  <a:schemeClr val="accent3"/>
                </a:highlight>
              </a:rPr>
              <a:t>Responsive</a:t>
            </a:r>
            <a:r>
              <a:rPr lang="en" sz="5400" dirty="0"/>
              <a:t> Web Design</a:t>
            </a:r>
            <a:endParaRPr sz="5400" dirty="0"/>
          </a:p>
        </p:txBody>
      </p:sp>
      <p:sp>
        <p:nvSpPr>
          <p:cNvPr id="445" name="Google Shape;445;p31"/>
          <p:cNvSpPr txBox="1">
            <a:spLocks noGrp="1"/>
          </p:cNvSpPr>
          <p:nvPr>
            <p:ph type="subTitle" idx="1"/>
          </p:nvPr>
        </p:nvSpPr>
        <p:spPr>
          <a:xfrm>
            <a:off x="720000" y="3907725"/>
            <a:ext cx="4152600" cy="45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Hy-Tech Club: Web 101</a:t>
            </a:r>
            <a:endParaRPr dirty="0"/>
          </a:p>
        </p:txBody>
      </p:sp>
      <p:sp>
        <p:nvSpPr>
          <p:cNvPr id="446" name="Google Shape;446;p31"/>
          <p:cNvSpPr/>
          <p:nvPr/>
        </p:nvSpPr>
        <p:spPr>
          <a:xfrm>
            <a:off x="5437275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31"/>
          <p:cNvSpPr/>
          <p:nvPr/>
        </p:nvSpPr>
        <p:spPr>
          <a:xfrm>
            <a:off x="6655800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31"/>
          <p:cNvSpPr/>
          <p:nvPr/>
        </p:nvSpPr>
        <p:spPr>
          <a:xfrm>
            <a:off x="6575900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31"/>
          <p:cNvSpPr/>
          <p:nvPr/>
        </p:nvSpPr>
        <p:spPr>
          <a:xfrm>
            <a:off x="7794425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31"/>
          <p:cNvSpPr/>
          <p:nvPr/>
        </p:nvSpPr>
        <p:spPr>
          <a:xfrm>
            <a:off x="7714525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z="1800" dirty="0">
                <a:solidFill>
                  <a:schemeClr val="tx1"/>
                </a:solidFill>
              </a:rPr>
              <a:t>What devices do you use to view web content?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400" indent="0" algn="ctr">
              <a:buNone/>
            </a:pPr>
            <a:r>
              <a:rPr lang="en-US" sz="2000" i="1" dirty="0">
                <a:solidFill>
                  <a:schemeClr val="accent1">
                    <a:lumMod val="75000"/>
                  </a:schemeClr>
                </a:solidFill>
              </a:rPr>
              <a:t>Desktop computer, laptop, smartphone, tablet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42863" indent="0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 marL="42863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Information should be accessible across devices</a:t>
            </a:r>
          </a:p>
          <a:p>
            <a:pPr marL="42863" indent="0"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marL="42863" indent="0">
              <a:buNone/>
            </a:pPr>
            <a:r>
              <a:rPr lang="en-US" sz="2700" b="1" dirty="0">
                <a:solidFill>
                  <a:schemeClr val="tx1"/>
                </a:solidFill>
              </a:rPr>
              <a:t>Responsive web design</a:t>
            </a:r>
            <a:r>
              <a:rPr lang="en-US" sz="2700" dirty="0">
                <a:solidFill>
                  <a:schemeClr val="tx1"/>
                </a:solidFill>
              </a:rPr>
              <a:t> is an approach to web design that makes webpages render well on a variety of devices and window or screen sizes</a:t>
            </a:r>
          </a:p>
          <a:p>
            <a:pPr marL="42863" indent="0">
              <a:buNone/>
            </a:pPr>
            <a:endParaRPr lang="en-US" sz="2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9624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Responsiveness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42863" indent="0">
              <a:buNone/>
            </a:pP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</a:rPr>
              <a:t>Bad:</a:t>
            </a:r>
          </a:p>
          <a:p>
            <a:pPr marL="42863" indent="0">
              <a:buNone/>
            </a:pPr>
            <a:r>
              <a:rPr lang="en-US" sz="3000" dirty="0">
                <a:hlinkClick r:id="rId3"/>
              </a:rPr>
              <a:t>https://en.wikipedia.org/wiki/Fortnite</a:t>
            </a:r>
            <a:endParaRPr lang="en-US" sz="3000" b="1" dirty="0"/>
          </a:p>
          <a:p>
            <a:pPr marL="42863" indent="0">
              <a:buNone/>
            </a:pPr>
            <a:endParaRPr lang="en-US" sz="3000" b="1" dirty="0"/>
          </a:p>
          <a:p>
            <a:pPr marL="42863" indent="0">
              <a:buNone/>
            </a:pPr>
            <a:endParaRPr lang="en-US" sz="3000" b="1" dirty="0"/>
          </a:p>
          <a:p>
            <a:pPr marL="42863" indent="0">
              <a:buNone/>
            </a:pPr>
            <a:r>
              <a:rPr lang="en-US" sz="3000" b="1" dirty="0">
                <a:solidFill>
                  <a:schemeClr val="accent3">
                    <a:lumMod val="50000"/>
                  </a:schemeClr>
                </a:solidFill>
              </a:rPr>
              <a:t>Good:</a:t>
            </a:r>
          </a:p>
          <a:p>
            <a:pPr marL="42863" indent="0">
              <a:buNone/>
            </a:pPr>
            <a:r>
              <a:rPr lang="en-US" sz="3000" dirty="0">
                <a:hlinkClick r:id="rId4"/>
              </a:rPr>
              <a:t>https://www.nationalgeographic.com/</a:t>
            </a:r>
            <a:endParaRPr lang="en-US" sz="3000" dirty="0"/>
          </a:p>
          <a:p>
            <a:pPr marL="42863" indent="0">
              <a:buNone/>
            </a:pPr>
            <a:endParaRPr lang="en-US" sz="3000" b="1" dirty="0"/>
          </a:p>
        </p:txBody>
      </p:sp>
    </p:spTree>
    <p:extLst>
      <p:ext uri="{BB962C8B-B14F-4D97-AF65-F5344CB8AC3E}">
        <p14:creationId xmlns:p14="http://schemas.microsoft.com/office/powerpoint/2010/main" val="374357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Manual Responsive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720000" y="1626058"/>
            <a:ext cx="2729782" cy="2804514"/>
          </a:xfrm>
        </p:spPr>
        <p:txBody>
          <a:bodyPr>
            <a:normAutofit/>
          </a:bodyPr>
          <a:lstStyle/>
          <a:p>
            <a:pPr marL="152400" indent="0">
              <a:buNone/>
            </a:pPr>
            <a:r>
              <a:rPr lang="en-US" sz="1800" dirty="0"/>
              <a:t>Use </a:t>
            </a:r>
            <a:r>
              <a:rPr lang="en-US" sz="1800" i="1" dirty="0"/>
              <a:t>percentage-based</a:t>
            </a:r>
            <a:r>
              <a:rPr lang="en-US" sz="1800" dirty="0"/>
              <a:t> property values in CSS</a:t>
            </a:r>
          </a:p>
          <a:p>
            <a:pPr marL="152400" indent="0">
              <a:buNone/>
            </a:pPr>
            <a:endParaRPr lang="en-US" sz="2000" dirty="0"/>
          </a:p>
          <a:p>
            <a:pPr marL="42863" indent="0">
              <a:buNone/>
            </a:pPr>
            <a:r>
              <a:rPr lang="en-US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img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{</a:t>
            </a:r>
          </a:p>
          <a:p>
            <a:pPr marL="42863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width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50%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42863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42863" indent="0">
              <a:buNone/>
            </a:pPr>
            <a:endParaRPr lang="en-US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D9167A-AC99-207E-DD98-49DB86EDC222}"/>
              </a:ext>
            </a:extLst>
          </p:cNvPr>
          <p:cNvSpPr txBox="1"/>
          <p:nvPr/>
        </p:nvSpPr>
        <p:spPr>
          <a:xfrm>
            <a:off x="3449782" y="1626058"/>
            <a:ext cx="508461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2400" indent="0">
              <a:buNone/>
            </a:pPr>
            <a:r>
              <a:rPr lang="en-US" sz="1800" dirty="0">
                <a:latin typeface="Miriam Libre" panose="00000500000000000000" pitchFamily="2" charset="-79"/>
                <a:cs typeface="Miriam Libre" panose="00000500000000000000" pitchFamily="2" charset="-79"/>
              </a:rPr>
              <a:t>Use </a:t>
            </a:r>
            <a:r>
              <a:rPr lang="en-US" sz="1800" i="1" dirty="0">
                <a:latin typeface="Miriam Libre" panose="00000500000000000000" pitchFamily="2" charset="-79"/>
                <a:cs typeface="Miriam Libre" panose="00000500000000000000" pitchFamily="2" charset="-79"/>
              </a:rPr>
              <a:t>media queries</a:t>
            </a:r>
            <a:r>
              <a:rPr lang="en-US" sz="1800" dirty="0">
                <a:latin typeface="Miriam Libre" panose="00000500000000000000" pitchFamily="2" charset="-79"/>
                <a:cs typeface="Miriam Libre" panose="00000500000000000000" pitchFamily="2" charset="-79"/>
              </a:rPr>
              <a:t> to style HTML based on the current viewport</a:t>
            </a:r>
          </a:p>
          <a:p>
            <a:pPr marL="152400" indent="0">
              <a:buNone/>
            </a:pPr>
            <a:endParaRPr lang="en-US" sz="1800" dirty="0">
              <a:latin typeface="Miriam Libre" panose="00000500000000000000" pitchFamily="2" charset="-79"/>
              <a:cs typeface="Miriam Libre" panose="00000500000000000000" pitchFamily="2" charset="-79"/>
            </a:endParaRPr>
          </a:p>
          <a:p>
            <a:pPr marL="42863" indent="0">
              <a:buNone/>
            </a:pP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@media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>
                <a:solidFill>
                  <a:srgbClr val="0451A5"/>
                </a:solidFill>
                <a:latin typeface="Consolas" panose="020B0609020204030204" pitchFamily="49" charset="0"/>
              </a:rPr>
              <a:t>screen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and (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max-width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sz="1800" dirty="0">
                <a:solidFill>
                  <a:srgbClr val="098658"/>
                </a:solidFill>
                <a:latin typeface="Consolas" panose="020B0609020204030204" pitchFamily="49" charset="0"/>
              </a:rPr>
              <a:t>600px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pPr marL="42863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800" dirty="0">
                <a:solidFill>
                  <a:srgbClr val="800000"/>
                </a:solidFill>
                <a:latin typeface="Consolas" panose="020B0609020204030204" pitchFamily="49" charset="0"/>
              </a:rPr>
              <a:t>.grid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{</a:t>
            </a:r>
          </a:p>
          <a:p>
            <a:pPr marL="42863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display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sz="1800" dirty="0">
                <a:solidFill>
                  <a:srgbClr val="0451A5"/>
                </a:solidFill>
                <a:latin typeface="Consolas" panose="020B0609020204030204" pitchFamily="49" charset="0"/>
              </a:rPr>
              <a:t>block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42863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 }</a:t>
            </a:r>
          </a:p>
          <a:p>
            <a:pPr marL="42863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D730DA9-A26E-8BFC-5023-2ED25B707531}"/>
              </a:ext>
            </a:extLst>
          </p:cNvPr>
          <p:cNvCxnSpPr/>
          <p:nvPr/>
        </p:nvCxnSpPr>
        <p:spPr>
          <a:xfrm flipV="1">
            <a:off x="3304310" y="1913659"/>
            <a:ext cx="0" cy="216823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8489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16478" y="1359284"/>
            <a:ext cx="7911044" cy="3251700"/>
          </a:xfrm>
        </p:spPr>
        <p:txBody>
          <a:bodyPr/>
          <a:lstStyle/>
          <a:p>
            <a:pPr marL="42863" indent="0">
              <a:buNone/>
            </a:pPr>
            <a:r>
              <a:rPr lang="en-US" sz="2000" dirty="0"/>
              <a:t>Go to </a:t>
            </a:r>
            <a:r>
              <a:rPr lang="en-US" sz="3200" b="1" dirty="0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short.hyland.com/</a:t>
            </a:r>
            <a:r>
              <a:rPr lang="en-US" sz="3200" b="1" dirty="0" err="1">
                <a:solidFill>
                  <a:schemeClr val="bg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respo</a:t>
            </a:r>
            <a:endParaRPr lang="en-US" sz="3200" b="1" dirty="0">
              <a:solidFill>
                <a:schemeClr val="bg2"/>
              </a:solidFill>
            </a:endParaRPr>
          </a:p>
          <a:p>
            <a:endParaRPr lang="en-US" dirty="0"/>
          </a:p>
          <a:p>
            <a:endParaRPr lang="en-US" dirty="0"/>
          </a:p>
          <a:p>
            <a:pPr marL="428625" indent="-385763">
              <a:buClr>
                <a:schemeClr val="tx1"/>
              </a:buClr>
              <a:buSzPct val="100000"/>
              <a:buAutoNum type="arabicPeriod"/>
            </a:pPr>
            <a:r>
              <a:rPr lang="en-US" sz="2000" dirty="0"/>
              <a:t>Make the 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h1</a:t>
            </a:r>
            <a:r>
              <a:rPr lang="en-US" sz="2000" dirty="0"/>
              <a:t> font bigger</a:t>
            </a:r>
          </a:p>
          <a:p>
            <a:pPr marL="428625" indent="-385763">
              <a:buClr>
                <a:schemeClr val="tx1"/>
              </a:buClr>
              <a:buSzPct val="100000"/>
              <a:buAutoNum type="arabicPeriod"/>
            </a:pPr>
            <a:r>
              <a:rPr lang="en-US" sz="2000" dirty="0"/>
              <a:t>Make the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img</a:t>
            </a:r>
            <a:r>
              <a:rPr lang="en-US" sz="2000" dirty="0"/>
              <a:t> bigger</a:t>
            </a:r>
          </a:p>
          <a:p>
            <a:pPr marL="428625" indent="-385763">
              <a:buClr>
                <a:schemeClr val="tx1"/>
              </a:buClr>
              <a:buSzPct val="100000"/>
              <a:buAutoNum type="arabicPeriod"/>
            </a:pPr>
            <a:r>
              <a:rPr lang="en-US" sz="2000" dirty="0"/>
              <a:t>Make the 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max-width</a:t>
            </a:r>
            <a:r>
              <a:rPr lang="en-US" sz="2000" dirty="0"/>
              <a:t> for the mobile viewer smaller</a:t>
            </a:r>
          </a:p>
          <a:p>
            <a:pPr marL="428625" indent="-385763">
              <a:buClr>
                <a:schemeClr val="tx1"/>
              </a:buClr>
              <a:buSzPct val="100000"/>
              <a:buAutoNum type="arabicPeriod"/>
            </a:pPr>
            <a:endParaRPr lang="en-US" sz="2000" dirty="0"/>
          </a:p>
          <a:p>
            <a:pPr marL="428625" indent="-385763">
              <a:buClr>
                <a:schemeClr val="tx1"/>
              </a:buClr>
              <a:buSzPct val="100000"/>
              <a:buAutoNum type="arabicPeriod"/>
            </a:pPr>
            <a:r>
              <a:rPr lang="en-US" sz="2000" b="1" i="1" dirty="0"/>
              <a:t>CHALLENGE:</a:t>
            </a:r>
            <a:r>
              <a:rPr lang="en-US" sz="2000" i="1" dirty="0"/>
              <a:t> Add an additional column</a:t>
            </a:r>
          </a:p>
        </p:txBody>
      </p:sp>
    </p:spTree>
    <p:extLst>
      <p:ext uri="{BB962C8B-B14F-4D97-AF65-F5344CB8AC3E}">
        <p14:creationId xmlns:p14="http://schemas.microsoft.com/office/powerpoint/2010/main" val="1106832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Bootstrap – A Better 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3557521" y="1351850"/>
            <a:ext cx="5073523" cy="3251700"/>
          </a:xfrm>
        </p:spPr>
        <p:txBody>
          <a:bodyPr anchor="ctr">
            <a:noAutofit/>
          </a:bodyPr>
          <a:lstStyle/>
          <a:p>
            <a:pPr>
              <a:buSzPct val="100000"/>
              <a:buFont typeface="Arial" panose="020B0604020202020204" pitchFamily="34" charset="0"/>
              <a:buChar char="•"/>
            </a:pPr>
            <a:r>
              <a:rPr lang="en-US" sz="1800" b="1" dirty="0"/>
              <a:t>Bootstrap</a:t>
            </a:r>
            <a:r>
              <a:rPr lang="en-US" sz="1800" dirty="0"/>
              <a:t> is a free and open-source front-end web framework</a:t>
            </a:r>
          </a:p>
          <a:p>
            <a:pPr>
              <a:buSzPct val="100000"/>
              <a:buFont typeface="Arial" panose="020B0604020202020204" pitchFamily="34" charset="0"/>
              <a:buChar char="•"/>
            </a:pPr>
            <a:endParaRPr lang="en-US" sz="1800" dirty="0"/>
          </a:p>
          <a:p>
            <a:pPr>
              <a:buSzPct val="100000"/>
              <a:buFont typeface="Arial" panose="020B0604020202020204" pitchFamily="34" charset="0"/>
              <a:buChar char="•"/>
            </a:pPr>
            <a:r>
              <a:rPr lang="en-US" sz="1800" dirty="0"/>
              <a:t>It allows web developers to make their websites responsive out-of-the-box</a:t>
            </a:r>
          </a:p>
          <a:p>
            <a:pPr>
              <a:buSzPct val="100000"/>
              <a:buFont typeface="Arial" panose="020B0604020202020204" pitchFamily="34" charset="0"/>
              <a:buChar char="•"/>
            </a:pPr>
            <a:endParaRPr lang="en-US" sz="1800" dirty="0"/>
          </a:p>
          <a:p>
            <a:pPr>
              <a:buSzPct val="100000"/>
              <a:buFont typeface="Arial" panose="020B0604020202020204" pitchFamily="34" charset="0"/>
              <a:buChar char="•"/>
            </a:pPr>
            <a:r>
              <a:rPr lang="en-US" sz="1800" dirty="0"/>
              <a:t>It has a collection of existing CSS classes that developers can apply to their HTML</a:t>
            </a:r>
          </a:p>
        </p:txBody>
      </p:sp>
      <p:pic>
        <p:nvPicPr>
          <p:cNvPr id="1028" name="Picture 4" descr="Image result for bootstra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00" y="1556153"/>
            <a:ext cx="2837521" cy="2837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2853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“Pull yourself up by your bootstraps”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720000" y="3461818"/>
            <a:ext cx="7704000" cy="1141731"/>
          </a:xfrm>
        </p:spPr>
        <p:txBody>
          <a:bodyPr/>
          <a:lstStyle/>
          <a:p>
            <a:pPr marL="323850" indent="-171450">
              <a:buSzPct val="100000"/>
              <a:buFont typeface="Arial" panose="020B0604020202020204" pitchFamily="34" charset="0"/>
              <a:buChar char="•"/>
            </a:pPr>
            <a:r>
              <a:rPr lang="en-US" sz="1800" dirty="0"/>
              <a:t>Bootstrap allows developers to quickly prototype ideas without having to concern themselves with the user interface</a:t>
            </a:r>
          </a:p>
          <a:p>
            <a:pPr marL="323850" indent="-171450">
              <a:buSzPct val="100000"/>
              <a:buFont typeface="Arial" panose="020B0604020202020204" pitchFamily="34" charset="0"/>
              <a:buChar char="•"/>
            </a:pPr>
            <a:endParaRPr lang="en-US" sz="500" dirty="0"/>
          </a:p>
          <a:p>
            <a:pPr marL="323850" indent="-171450">
              <a:buSzPct val="100000"/>
              <a:buFont typeface="Arial" panose="020B0604020202020204" pitchFamily="34" charset="0"/>
              <a:buChar char="•"/>
            </a:pPr>
            <a:r>
              <a:rPr lang="en-US" sz="1800" dirty="0"/>
              <a:t>It is a very good starting point for new projects </a:t>
            </a:r>
          </a:p>
        </p:txBody>
      </p:sp>
      <p:pic>
        <p:nvPicPr>
          <p:cNvPr id="2052" name="Picture 4" descr="Image result for pull yourself up by your bootstrap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8215" y="1247879"/>
            <a:ext cx="3967569" cy="198378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8074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Bootstrap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2863" indent="0">
              <a:buNone/>
            </a:pPr>
            <a:r>
              <a:rPr lang="en-US" sz="2400" b="1" dirty="0"/>
              <a:t>Meta tag</a:t>
            </a:r>
            <a:r>
              <a:rPr lang="en-US" sz="2400" dirty="0"/>
              <a:t> – set viewport to scale appropriately</a:t>
            </a:r>
          </a:p>
          <a:p>
            <a:pPr marL="42863" indent="0">
              <a:buNone/>
            </a:pP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&lt;meta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"viewport"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content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"width=device-width, initial-scale=1"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endParaRPr lang="en-US" sz="2400" dirty="0"/>
          </a:p>
          <a:p>
            <a:pPr marL="42863" indent="0">
              <a:buNone/>
            </a:pPr>
            <a:r>
              <a:rPr lang="en-US" sz="2400" b="1" dirty="0"/>
              <a:t>Link tag</a:t>
            </a:r>
            <a:r>
              <a:rPr lang="en-US" sz="2400" dirty="0"/>
              <a:t> – import Bootstrap’s CSS</a:t>
            </a:r>
          </a:p>
          <a:p>
            <a:pPr marL="42863" indent="0">
              <a:buNone/>
            </a:pP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&lt;link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rel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"stylesheet"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href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"https://maxcdn.bootstrapcdn.com/bootstrap/4.3.1/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css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/bootstrap.min.css"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endParaRPr 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1823100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Bootstrap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42863" indent="0">
              <a:buNone/>
            </a:pPr>
            <a:r>
              <a:rPr lang="en-US" sz="3200" b="1" dirty="0" err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jumbotron</a:t>
            </a:r>
            <a:r>
              <a:rPr lang="en-US" sz="1600" dirty="0"/>
              <a:t> – to create big banner headers</a:t>
            </a:r>
          </a:p>
          <a:p>
            <a:pPr marL="42863" indent="0">
              <a:buNone/>
            </a:pPr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text-center</a:t>
            </a:r>
            <a:r>
              <a:rPr lang="en-US" sz="1600" dirty="0"/>
              <a:t> – to center text</a:t>
            </a:r>
          </a:p>
          <a:p>
            <a:pPr marL="42863" indent="0">
              <a:buNone/>
            </a:pPr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container</a:t>
            </a:r>
            <a:r>
              <a:rPr lang="en-US" sz="1600" dirty="0"/>
              <a:t> – to add space on sides</a:t>
            </a:r>
          </a:p>
          <a:p>
            <a:pPr marL="42863" indent="0">
              <a:buNone/>
            </a:pPr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row</a:t>
            </a:r>
            <a:r>
              <a:rPr lang="en-US" sz="1600" dirty="0"/>
              <a:t> – to create grid rows</a:t>
            </a:r>
          </a:p>
          <a:p>
            <a:pPr marL="42863" indent="0">
              <a:buNone/>
            </a:pPr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col-md-</a:t>
            </a:r>
            <a:r>
              <a:rPr lang="en-US" sz="3200" b="1" dirty="0">
                <a:solidFill>
                  <a:srgbClr val="FF8300"/>
                </a:solidFill>
                <a:latin typeface="Consolas" panose="020B0609020204030204" pitchFamily="49" charset="0"/>
              </a:rPr>
              <a:t>*</a:t>
            </a:r>
            <a:r>
              <a:rPr lang="en-US" sz="1600" dirty="0"/>
              <a:t> – to create grid columns (sized by </a:t>
            </a:r>
            <a:r>
              <a:rPr lang="en-US" sz="3200" b="1" dirty="0">
                <a:solidFill>
                  <a:srgbClr val="FF8300"/>
                </a:solidFill>
                <a:latin typeface="Consolas" panose="020B0609020204030204" pitchFamily="49" charset="0"/>
              </a:rPr>
              <a:t>*</a:t>
            </a:r>
            <a:r>
              <a:rPr lang="en-US" sz="1600" dirty="0"/>
              <a:t>)</a:t>
            </a:r>
          </a:p>
          <a:p>
            <a:pPr marL="42863" indent="0">
              <a:buNone/>
            </a:pPr>
            <a:endParaRPr lang="en-US" sz="1600" dirty="0"/>
          </a:p>
          <a:p>
            <a:pPr marL="42863" indent="0">
              <a:buNone/>
            </a:pPr>
            <a:r>
              <a:rPr lang="en-US" sz="1600" i="1" dirty="0"/>
              <a:t>Each </a:t>
            </a:r>
            <a:r>
              <a:rPr lang="en-US" sz="1600" b="1" i="1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.row</a:t>
            </a:r>
            <a:r>
              <a:rPr lang="en-US" sz="1600" i="1" dirty="0"/>
              <a:t> has 12 columns total, but they can merge depending on the class of the cell </a:t>
            </a:r>
            <a:r>
              <a:rPr lang="en-US" sz="1600" b="1" i="1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div</a:t>
            </a:r>
            <a:endParaRPr lang="en-US" sz="1800" b="1" i="1" dirty="0">
              <a:solidFill>
                <a:schemeClr val="accent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16157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Bootstrap Grid Columns</a:t>
            </a:r>
          </a:p>
        </p:txBody>
      </p:sp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83417421"/>
              </p:ext>
            </p:extLst>
          </p:nvPr>
        </p:nvGraphicFramePr>
        <p:xfrm>
          <a:off x="285750" y="1251725"/>
          <a:ext cx="8572500" cy="3600451"/>
        </p:xfrm>
        <a:graphic>
          <a:graphicData uri="http://schemas.openxmlformats.org/drawingml/2006/table">
            <a:tbl>
              <a:tblPr firstRow="1" bandRow="1"/>
              <a:tblGrid>
                <a:gridCol w="714375">
                  <a:extLst>
                    <a:ext uri="{9D8B030D-6E8A-4147-A177-3AD203B41FA5}">
                      <a16:colId xmlns:a16="http://schemas.microsoft.com/office/drawing/2014/main" val="1258232975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618605057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3353576907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328264598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449863249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3942126331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1155268589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115060409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3185184857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756295289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577609663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1532092075"/>
                    </a:ext>
                  </a:extLst>
                </a:gridCol>
              </a:tblGrid>
              <a:tr h="8103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col-md-1</a:t>
                      </a:r>
                    </a:p>
                  </a:txBody>
                  <a:tcPr marL="68580" marR="68580" marT="34290" marB="3429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B8CED0"/>
                      </a:solidFill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B8CED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CED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col-md-1</a:t>
                      </a:r>
                    </a:p>
                  </a:txBody>
                  <a:tcPr marL="68580" marR="68580" marT="34290" marB="34290" anchor="ctr">
                    <a:lnL w="12700" cmpd="sng">
                      <a:solidFill>
                        <a:srgbClr val="B8CED0"/>
                      </a:solidFill>
                    </a:lnL>
                    <a:lnR w="12700" cmpd="sng">
                      <a:solidFill>
                        <a:srgbClr val="B8CED0"/>
                      </a:solidFill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B8CED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CED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col-md-1</a:t>
                      </a:r>
                    </a:p>
                  </a:txBody>
                  <a:tcPr marL="68580" marR="68580" marT="34290" marB="34290" anchor="ctr">
                    <a:lnL w="12700" cmpd="sng">
                      <a:solidFill>
                        <a:srgbClr val="B8CED0"/>
                      </a:solidFill>
                    </a:lnL>
                    <a:lnR w="12700" cmpd="sng">
                      <a:solidFill>
                        <a:srgbClr val="B8CED0"/>
                      </a:solidFill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B8CED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CED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col-md-1</a:t>
                      </a:r>
                    </a:p>
                  </a:txBody>
                  <a:tcPr marL="68580" marR="68580" marT="34290" marB="34290" anchor="ctr">
                    <a:lnL w="12700" cmpd="sng">
                      <a:solidFill>
                        <a:srgbClr val="B8CED0"/>
                      </a:solidFill>
                    </a:lnL>
                    <a:lnR w="12700" cmpd="sng">
                      <a:solidFill>
                        <a:srgbClr val="B8CED0"/>
                      </a:solidFill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B8CED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CED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b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col-md-1</a:t>
                      </a:r>
                      <a:endParaRPr lang="en-US" sz="1400" b="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68580" marR="68580" marT="34290" marB="34290" anchor="ctr">
                    <a:lnL w="12700" cmpd="sng">
                      <a:solidFill>
                        <a:srgbClr val="B8CED0"/>
                      </a:solidFill>
                    </a:lnL>
                    <a:lnR w="12700" cmpd="sng">
                      <a:solidFill>
                        <a:srgbClr val="B8CED0"/>
                      </a:solidFill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B8CED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CED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col-md-1</a:t>
                      </a:r>
                    </a:p>
                  </a:txBody>
                  <a:tcPr marL="68580" marR="68580" marT="34290" marB="34290" anchor="ctr">
                    <a:lnL w="12700" cmpd="sng">
                      <a:solidFill>
                        <a:srgbClr val="B8CED0"/>
                      </a:solidFill>
                    </a:lnL>
                    <a:lnR w="12700" cmpd="sng">
                      <a:solidFill>
                        <a:srgbClr val="B8CED0"/>
                      </a:solidFill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B8CED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CED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col-md-1</a:t>
                      </a:r>
                    </a:p>
                  </a:txBody>
                  <a:tcPr marL="68580" marR="68580" marT="34290" marB="34290" anchor="ctr">
                    <a:lnL w="12700" cmpd="sng">
                      <a:solidFill>
                        <a:srgbClr val="B8CED0"/>
                      </a:solidFill>
                    </a:lnL>
                    <a:lnR w="12700" cmpd="sng">
                      <a:solidFill>
                        <a:srgbClr val="B8CED0"/>
                      </a:solidFill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B8CED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CED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col-md-1</a:t>
                      </a:r>
                    </a:p>
                  </a:txBody>
                  <a:tcPr marL="68580" marR="68580" marT="34290" marB="34290" anchor="ctr">
                    <a:lnL w="12700" cmpd="sng">
                      <a:solidFill>
                        <a:srgbClr val="B8CED0"/>
                      </a:solidFill>
                    </a:lnL>
                    <a:lnR w="12700" cmpd="sng">
                      <a:solidFill>
                        <a:srgbClr val="B8CED0"/>
                      </a:solidFill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B8CED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CED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col-md-1</a:t>
                      </a:r>
                    </a:p>
                  </a:txBody>
                  <a:tcPr marL="68580" marR="68580" marT="34290" marB="34290" anchor="ctr">
                    <a:lnL w="12700" cmpd="sng">
                      <a:solidFill>
                        <a:srgbClr val="B8CED0"/>
                      </a:solidFill>
                    </a:lnL>
                    <a:lnR w="12700" cmpd="sng">
                      <a:solidFill>
                        <a:srgbClr val="B8CED0"/>
                      </a:solidFill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B8CED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CED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col-md-1</a:t>
                      </a:r>
                    </a:p>
                  </a:txBody>
                  <a:tcPr marL="68580" marR="68580" marT="34290" marB="34290" anchor="ctr">
                    <a:lnL w="12700" cmpd="sng">
                      <a:solidFill>
                        <a:srgbClr val="B8CED0"/>
                      </a:solidFill>
                    </a:lnL>
                    <a:lnR w="12700" cmpd="sng">
                      <a:solidFill>
                        <a:srgbClr val="B8CED0"/>
                      </a:solidFill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B8CED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CED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col-md-1</a:t>
                      </a:r>
                    </a:p>
                  </a:txBody>
                  <a:tcPr marL="68580" marR="68580" marT="34290" marB="34290" anchor="ctr">
                    <a:lnL w="12700" cmpd="sng">
                      <a:solidFill>
                        <a:srgbClr val="B8CED0"/>
                      </a:solidFill>
                    </a:lnL>
                    <a:lnR w="12700" cmpd="sng">
                      <a:solidFill>
                        <a:srgbClr val="B8CED0"/>
                      </a:solidFill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B8CED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CED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col-md-1</a:t>
                      </a:r>
                    </a:p>
                  </a:txBody>
                  <a:tcPr marL="68580" marR="68580" marT="34290" marB="34290" anchor="ctr">
                    <a:lnL w="12700" cmpd="sng">
                      <a:solidFill>
                        <a:srgbClr val="B8CED0"/>
                      </a:solidFill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B8CED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CED0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828572"/>
                  </a:ext>
                </a:extLst>
              </a:tr>
              <a:tr h="762861"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col-md-4</a:t>
                      </a:r>
                    </a:p>
                  </a:txBody>
                  <a:tcPr marL="68580" marR="68580" marT="34290" marB="3429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B8CED0"/>
                      </a:solidFill>
                    </a:lnR>
                    <a:lnT w="12700" cmpd="sng">
                      <a:solidFill>
                        <a:srgbClr val="B8CED0"/>
                      </a:solidFill>
                    </a:lnT>
                    <a:lnB w="12700" cmpd="sng">
                      <a:solidFill>
                        <a:srgbClr val="B8CED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CED0">
                        <a:tint val="4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col-md-4</a:t>
                      </a:r>
                    </a:p>
                  </a:txBody>
                  <a:tcPr marL="68580" marR="68580" marT="34290" marB="34290" anchor="ctr">
                    <a:lnL w="12700" cmpd="sng">
                      <a:solidFill>
                        <a:srgbClr val="B8CED0"/>
                      </a:solidFill>
                    </a:lnL>
                    <a:lnR w="12700" cmpd="sng">
                      <a:solidFill>
                        <a:srgbClr val="B8CED0"/>
                      </a:solidFill>
                    </a:lnR>
                    <a:lnT w="12700" cmpd="sng">
                      <a:solidFill>
                        <a:srgbClr val="B8CED0"/>
                      </a:solidFill>
                    </a:lnT>
                    <a:lnB w="12700" cmpd="sng">
                      <a:solidFill>
                        <a:srgbClr val="B8CED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CED0">
                        <a:tint val="4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col-md-4</a:t>
                      </a:r>
                    </a:p>
                  </a:txBody>
                  <a:tcPr marL="68580" marR="68580" marT="34290" marB="34290" anchor="ctr">
                    <a:lnL w="12700" cmpd="sng">
                      <a:solidFill>
                        <a:srgbClr val="B8CED0"/>
                      </a:solidFill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B8CED0"/>
                      </a:solidFill>
                    </a:lnT>
                    <a:lnB w="12700" cmpd="sng">
                      <a:solidFill>
                        <a:srgbClr val="B8CED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CED0">
                        <a:tint val="4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2456689"/>
                  </a:ext>
                </a:extLst>
              </a:tr>
              <a:tr h="647062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col-md-3</a:t>
                      </a:r>
                    </a:p>
                  </a:txBody>
                  <a:tcPr marL="68580" marR="68580" marT="34290" marB="3429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B8CED0"/>
                      </a:solidFill>
                    </a:lnR>
                    <a:lnT w="12700" cmpd="sng">
                      <a:solidFill>
                        <a:srgbClr val="B8CED0"/>
                      </a:solidFill>
                    </a:lnT>
                    <a:lnB w="12700" cmpd="sng">
                      <a:solidFill>
                        <a:srgbClr val="B8CED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CED0">
                        <a:tint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col-md-3</a:t>
                      </a:r>
                    </a:p>
                  </a:txBody>
                  <a:tcPr marL="68580" marR="68580" marT="34290" marB="34290" anchor="ctr">
                    <a:lnL w="12700" cmpd="sng">
                      <a:solidFill>
                        <a:srgbClr val="B8CED0"/>
                      </a:solidFill>
                    </a:lnL>
                    <a:lnR w="12700" cmpd="sng">
                      <a:solidFill>
                        <a:srgbClr val="B8CED0"/>
                      </a:solidFill>
                    </a:lnR>
                    <a:lnT w="12700" cmpd="sng">
                      <a:solidFill>
                        <a:srgbClr val="B8CED0"/>
                      </a:solidFill>
                    </a:lnT>
                    <a:lnB w="12700" cmpd="sng">
                      <a:solidFill>
                        <a:srgbClr val="B8CED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CED0">
                        <a:tint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col-md-3</a:t>
                      </a:r>
                    </a:p>
                  </a:txBody>
                  <a:tcPr marL="68580" marR="68580" marT="34290" marB="34290" anchor="ctr">
                    <a:lnL w="12700" cmpd="sng">
                      <a:solidFill>
                        <a:srgbClr val="B8CED0"/>
                      </a:solidFill>
                    </a:lnL>
                    <a:lnR w="12700" cmpd="sng">
                      <a:solidFill>
                        <a:srgbClr val="B8CED0"/>
                      </a:solidFill>
                    </a:lnR>
                    <a:lnT w="12700" cmpd="sng">
                      <a:solidFill>
                        <a:srgbClr val="B8CED0"/>
                      </a:solidFill>
                    </a:lnT>
                    <a:lnB w="12700" cmpd="sng">
                      <a:solidFill>
                        <a:srgbClr val="B8CED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CED0">
                        <a:tint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b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col-md-3</a:t>
                      </a:r>
                      <a:endParaRPr lang="en-US" sz="1400" b="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68580" marR="68580" marT="34290" marB="34290" anchor="ctr">
                    <a:lnL w="12700" cmpd="sng">
                      <a:solidFill>
                        <a:srgbClr val="B8CED0"/>
                      </a:solidFill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B8CED0"/>
                      </a:solidFill>
                    </a:lnT>
                    <a:lnB w="12700" cmpd="sng">
                      <a:solidFill>
                        <a:srgbClr val="B8CED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CED0">
                        <a:tint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7029442"/>
                  </a:ext>
                </a:extLst>
              </a:tr>
              <a:tr h="690086">
                <a:tc gridSpan="6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col-md-6</a:t>
                      </a:r>
                    </a:p>
                  </a:txBody>
                  <a:tcPr marL="68580" marR="68580" marT="34290" marB="3429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B8CED0"/>
                      </a:solidFill>
                    </a:lnR>
                    <a:lnT w="12700" cmpd="sng">
                      <a:solidFill>
                        <a:srgbClr val="B8CED0"/>
                      </a:solidFill>
                    </a:lnT>
                    <a:lnB w="12700" cmpd="sng">
                      <a:solidFill>
                        <a:srgbClr val="B8CED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CED0">
                        <a:tint val="4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  <a:tc gridSpan="6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col-md-6</a:t>
                      </a:r>
                    </a:p>
                  </a:txBody>
                  <a:tcPr marL="68580" marR="68580" marT="34290" marB="34290" anchor="ctr">
                    <a:lnL w="12700" cmpd="sng">
                      <a:solidFill>
                        <a:srgbClr val="B8CED0"/>
                      </a:solidFill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B8CED0"/>
                      </a:solidFill>
                    </a:lnT>
                    <a:lnB w="12700" cmpd="sng">
                      <a:solidFill>
                        <a:srgbClr val="B8CED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CED0">
                        <a:tint val="4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389673"/>
                  </a:ext>
                </a:extLst>
              </a:tr>
              <a:tr h="690085">
                <a:tc gridSpan="8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col-md-8</a:t>
                      </a:r>
                    </a:p>
                  </a:txBody>
                  <a:tcPr marL="68580" marR="68580" marT="34290" marB="3429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B8CED0"/>
                      </a:solidFill>
                    </a:lnR>
                    <a:lnT w="12700" cmpd="sng">
                      <a:solidFill>
                        <a:srgbClr val="B8CED0"/>
                      </a:solidFill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CED0">
                        <a:tint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col-md-4</a:t>
                      </a:r>
                    </a:p>
                  </a:txBody>
                  <a:tcPr marL="68580" marR="68580" marT="34290" marB="34290" anchor="ctr">
                    <a:lnL w="12700" cmpd="sng">
                      <a:solidFill>
                        <a:srgbClr val="B8CED0"/>
                      </a:solidFill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B8CED0"/>
                      </a:solidFill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CED0">
                        <a:tint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2845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6240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2C9483D-AC31-6963-5F6A-22C424B8A07A}"/>
              </a:ext>
            </a:extLst>
          </p:cNvPr>
          <p:cNvSpPr/>
          <p:nvPr/>
        </p:nvSpPr>
        <p:spPr>
          <a:xfrm>
            <a:off x="498088" y="1286107"/>
            <a:ext cx="8155258" cy="3375103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Bootstrap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 marL="42863" indent="0">
              <a:buNone/>
            </a:pP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https://v4-alpha.getbootstrap.com/examples/jumbotron/</a:t>
            </a:r>
            <a:endParaRPr lang="en-US" sz="2200" b="1" dirty="0">
              <a:solidFill>
                <a:schemeClr val="accent3">
                  <a:lumMod val="75000"/>
                </a:schemeClr>
              </a:solidFill>
            </a:endParaRPr>
          </a:p>
          <a:p>
            <a:pPr marL="42863" indent="0">
              <a:buNone/>
            </a:pPr>
            <a:endParaRPr lang="en-US" sz="2700" dirty="0"/>
          </a:p>
          <a:p>
            <a:pPr marL="428625" indent="-428625"/>
            <a:endParaRPr lang="en-US" sz="1700" dirty="0">
              <a:solidFill>
                <a:schemeClr val="tx1">
                  <a:lumMod val="20000"/>
                  <a:lumOff val="80000"/>
                </a:schemeClr>
              </a:solidFill>
            </a:endParaRPr>
          </a:p>
          <a:p>
            <a:pPr indent="-457200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700" dirty="0">
                <a:solidFill>
                  <a:schemeClr val="tx1">
                    <a:lumMod val="20000"/>
                    <a:lumOff val="80000"/>
                  </a:schemeClr>
                </a:solidFill>
              </a:rPr>
              <a:t>Which part is the </a:t>
            </a:r>
            <a:r>
              <a:rPr lang="en-US" sz="2700" b="1" dirty="0">
                <a:solidFill>
                  <a:schemeClr val="bg1"/>
                </a:solidFill>
                <a:latin typeface="Consolas" panose="020B0609020204030204" pitchFamily="49" charset="0"/>
              </a:rPr>
              <a:t>jumbotron</a:t>
            </a:r>
            <a:r>
              <a:rPr lang="en-US" sz="2700" dirty="0">
                <a:solidFill>
                  <a:schemeClr val="tx1">
                    <a:lumMod val="20000"/>
                    <a:lumOff val="80000"/>
                  </a:schemeClr>
                </a:solidFill>
              </a:rPr>
              <a:t>?</a:t>
            </a:r>
          </a:p>
          <a:p>
            <a:pPr indent="-457200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700" dirty="0">
                <a:solidFill>
                  <a:schemeClr val="tx1">
                    <a:lumMod val="20000"/>
                    <a:lumOff val="80000"/>
                  </a:schemeClr>
                </a:solidFill>
              </a:rPr>
              <a:t>Which part is the </a:t>
            </a:r>
            <a:r>
              <a:rPr lang="en-US" sz="2700" b="1" dirty="0">
                <a:solidFill>
                  <a:schemeClr val="bg1"/>
                </a:solidFill>
                <a:latin typeface="Consolas" panose="020B0609020204030204" pitchFamily="49" charset="0"/>
              </a:rPr>
              <a:t>row</a:t>
            </a:r>
            <a:r>
              <a:rPr lang="en-US" sz="2700" dirty="0">
                <a:solidFill>
                  <a:schemeClr val="tx1">
                    <a:lumMod val="20000"/>
                    <a:lumOff val="80000"/>
                  </a:schemeClr>
                </a:solidFill>
              </a:rPr>
              <a:t>?</a:t>
            </a:r>
          </a:p>
          <a:p>
            <a:pPr indent="-457200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700" dirty="0">
                <a:solidFill>
                  <a:schemeClr val="tx1">
                    <a:lumMod val="20000"/>
                    <a:lumOff val="80000"/>
                  </a:schemeClr>
                </a:solidFill>
              </a:rPr>
              <a:t>What does the </a:t>
            </a:r>
            <a:r>
              <a:rPr lang="en-US" sz="2700" b="1" dirty="0">
                <a:solidFill>
                  <a:schemeClr val="bg1"/>
                </a:solidFill>
                <a:latin typeface="Consolas" panose="020B0609020204030204" pitchFamily="49" charset="0"/>
              </a:rPr>
              <a:t>container</a:t>
            </a:r>
            <a:r>
              <a:rPr lang="en-US" sz="2700" dirty="0">
                <a:solidFill>
                  <a:schemeClr val="tx1">
                    <a:lumMod val="20000"/>
                    <a:lumOff val="80000"/>
                  </a:schemeClr>
                </a:solidFill>
              </a:rPr>
              <a:t> class do?</a:t>
            </a:r>
          </a:p>
          <a:p>
            <a:pPr indent="-457200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700" dirty="0">
                <a:solidFill>
                  <a:schemeClr val="tx1">
                    <a:lumMod val="20000"/>
                    <a:lumOff val="80000"/>
                  </a:schemeClr>
                </a:solidFill>
              </a:rPr>
              <a:t>What does the </a:t>
            </a:r>
            <a:r>
              <a:rPr lang="en-US" sz="2700" b="1" dirty="0">
                <a:solidFill>
                  <a:schemeClr val="bg1"/>
                </a:solidFill>
                <a:latin typeface="Consolas" panose="020B0609020204030204" pitchFamily="49" charset="0"/>
              </a:rPr>
              <a:t>text-center</a:t>
            </a:r>
            <a:r>
              <a:rPr lang="en-US" sz="2700" dirty="0">
                <a:solidFill>
                  <a:schemeClr val="tx1">
                    <a:lumMod val="20000"/>
                    <a:lumOff val="80000"/>
                  </a:schemeClr>
                </a:solidFill>
              </a:rPr>
              <a:t> class do?</a:t>
            </a:r>
          </a:p>
          <a:p>
            <a:pPr indent="-457200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700" dirty="0">
                <a:solidFill>
                  <a:schemeClr val="tx1">
                    <a:lumMod val="20000"/>
                    <a:lumOff val="80000"/>
                  </a:schemeClr>
                </a:solidFill>
              </a:rPr>
              <a:t>Which class would be used for the columns?</a:t>
            </a:r>
          </a:p>
          <a:p>
            <a:pPr marL="42863" indent="0">
              <a:buNone/>
            </a:pPr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3539189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p54"/>
          <p:cNvSpPr txBox="1">
            <a:spLocks noGrp="1"/>
          </p:cNvSpPr>
          <p:nvPr>
            <p:ph type="subTitle" idx="1"/>
          </p:nvPr>
        </p:nvSpPr>
        <p:spPr>
          <a:xfrm>
            <a:off x="720000" y="1824225"/>
            <a:ext cx="5650200" cy="3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DO YOU HAVE ANY QUESTIONS?</a:t>
            </a:r>
            <a:endParaRPr dirty="0"/>
          </a:p>
        </p:txBody>
      </p:sp>
      <p:sp>
        <p:nvSpPr>
          <p:cNvPr id="1504" name="Google Shape;1504;p54"/>
          <p:cNvSpPr txBox="1">
            <a:spLocks noGrp="1"/>
          </p:cNvSpPr>
          <p:nvPr>
            <p:ph type="ctrTitle"/>
          </p:nvPr>
        </p:nvSpPr>
        <p:spPr>
          <a:xfrm>
            <a:off x="720000" y="1049325"/>
            <a:ext cx="5650200" cy="77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1542" name="Google Shape;1542;p54"/>
          <p:cNvSpPr/>
          <p:nvPr/>
        </p:nvSpPr>
        <p:spPr>
          <a:xfrm>
            <a:off x="570050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3" name="Google Shape;1543;p54"/>
          <p:cNvSpPr/>
          <p:nvPr/>
        </p:nvSpPr>
        <p:spPr>
          <a:xfrm>
            <a:off x="490150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4" name="Google Shape;1544;p54"/>
          <p:cNvSpPr/>
          <p:nvPr/>
        </p:nvSpPr>
        <p:spPr>
          <a:xfrm>
            <a:off x="1708675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5" name="Google Shape;1545;p54"/>
          <p:cNvSpPr/>
          <p:nvPr/>
        </p:nvSpPr>
        <p:spPr>
          <a:xfrm>
            <a:off x="1628775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6" name="Google Shape;1546;p54"/>
          <p:cNvSpPr/>
          <p:nvPr/>
        </p:nvSpPr>
        <p:spPr>
          <a:xfrm>
            <a:off x="2847300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7" name="Google Shape;1547;p54"/>
          <p:cNvSpPr/>
          <p:nvPr/>
        </p:nvSpPr>
        <p:spPr>
          <a:xfrm>
            <a:off x="2767400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94C185-2733-82A6-CD26-B6BB946D14B6}"/>
              </a:ext>
            </a:extLst>
          </p:cNvPr>
          <p:cNvSpPr/>
          <p:nvPr/>
        </p:nvSpPr>
        <p:spPr>
          <a:xfrm>
            <a:off x="4211782" y="3837709"/>
            <a:ext cx="4253345" cy="4779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 Grid Interface &amp; Sticky Notes Company Profile by Slidesgo">
  <a:themeElements>
    <a:clrScheme name="Simple Light">
      <a:dk1>
        <a:srgbClr val="000000"/>
      </a:dk1>
      <a:lt1>
        <a:srgbClr val="FFFFFF"/>
      </a:lt1>
      <a:dk2>
        <a:srgbClr val="AA2FE6"/>
      </a:dk2>
      <a:lt2>
        <a:srgbClr val="FF7ACD"/>
      </a:lt2>
      <a:accent1>
        <a:srgbClr val="FFA27A"/>
      </a:accent1>
      <a:accent2>
        <a:srgbClr val="FFDF6D"/>
      </a:accent2>
      <a:accent3>
        <a:srgbClr val="8FFFC1"/>
      </a:accent3>
      <a:accent4>
        <a:srgbClr val="24069D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823</Words>
  <Application>Microsoft Office PowerPoint</Application>
  <PresentationFormat>On-screen Show (16:9)</PresentationFormat>
  <Paragraphs>135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Krona One</vt:lpstr>
      <vt:lpstr>Consolas</vt:lpstr>
      <vt:lpstr>Miriam Libre</vt:lpstr>
      <vt:lpstr>Roboto Condensed Light</vt:lpstr>
      <vt:lpstr>Arial</vt:lpstr>
      <vt:lpstr>Segoe UI</vt:lpstr>
      <vt:lpstr>Blue Grid Interface &amp; Sticky Notes Company Profile by Slidesgo</vt:lpstr>
      <vt:lpstr>Responsive Web Design</vt:lpstr>
      <vt:lpstr>What devices do you use to view web content?</vt:lpstr>
      <vt:lpstr>Responsiveness Examples</vt:lpstr>
      <vt:lpstr>Manual Responsive Design</vt:lpstr>
      <vt:lpstr>Practice</vt:lpstr>
      <vt:lpstr>Bootstrap – A Better Way</vt:lpstr>
      <vt:lpstr>“Pull yourself up by your bootstraps”</vt:lpstr>
      <vt:lpstr>Bootstrap Code</vt:lpstr>
      <vt:lpstr>Bootstrap Classes</vt:lpstr>
      <vt:lpstr>Bootstrap Grid Columns</vt:lpstr>
      <vt:lpstr>Bootstrap Example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 HTML!</dc:title>
  <cp:lastModifiedBy>Joseph Maxwell</cp:lastModifiedBy>
  <cp:revision>8</cp:revision>
  <dcterms:modified xsi:type="dcterms:W3CDTF">2026-08-27T16:42:12Z</dcterms:modified>
</cp:coreProperties>
</file>